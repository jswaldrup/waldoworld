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Roboto Slab"/>
      <p:regular r:id="rId34"/>
      <p:bold r:id="rId35"/>
    </p:embeddedFont>
    <p:embeddedFont>
      <p:font typeface="Raleway"/>
      <p:regular r:id="rId36"/>
      <p:bold r:id="rId37"/>
      <p:italic r:id="rId38"/>
      <p:boldItalic r:id="rId39"/>
    </p:embeddedFont>
    <p:embeddedFont>
      <p:font typeface="Lato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4" roundtripDataSignature="AMtx7miQPrj+qaLUX6xhya8T+4LwQWJ0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regular.fntdata"/><Relationship Id="rId20" Type="http://schemas.openxmlformats.org/officeDocument/2006/relationships/slide" Target="slides/slide15.xml"/><Relationship Id="rId42" Type="http://schemas.openxmlformats.org/officeDocument/2006/relationships/font" Target="fonts/Lato-italic.fntdata"/><Relationship Id="rId41" Type="http://schemas.openxmlformats.org/officeDocument/2006/relationships/font" Target="fonts/Lato-bold.fntdata"/><Relationship Id="rId22" Type="http://schemas.openxmlformats.org/officeDocument/2006/relationships/slide" Target="slides/slide17.xml"/><Relationship Id="rId44" Type="http://customschemas.google.com/relationships/presentationmetadata" Target="metadata"/><Relationship Id="rId21" Type="http://schemas.openxmlformats.org/officeDocument/2006/relationships/slide" Target="slides/slide16.xml"/><Relationship Id="rId43" Type="http://schemas.openxmlformats.org/officeDocument/2006/relationships/font" Target="fonts/Lato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RobotoSlab-bold.fntdata"/><Relationship Id="rId12" Type="http://schemas.openxmlformats.org/officeDocument/2006/relationships/slide" Target="slides/slide7.xml"/><Relationship Id="rId34" Type="http://schemas.openxmlformats.org/officeDocument/2006/relationships/font" Target="fonts/RobotoSlab-regular.fntdata"/><Relationship Id="rId15" Type="http://schemas.openxmlformats.org/officeDocument/2006/relationships/slide" Target="slides/slide10.xml"/><Relationship Id="rId37" Type="http://schemas.openxmlformats.org/officeDocument/2006/relationships/font" Target="fonts/Raleway-bold.fntdata"/><Relationship Id="rId14" Type="http://schemas.openxmlformats.org/officeDocument/2006/relationships/slide" Target="slides/slide9.xml"/><Relationship Id="rId36" Type="http://schemas.openxmlformats.org/officeDocument/2006/relationships/font" Target="fonts/Raleway-regular.fntdata"/><Relationship Id="rId17" Type="http://schemas.openxmlformats.org/officeDocument/2006/relationships/slide" Target="slides/slide12.xml"/><Relationship Id="rId39" Type="http://schemas.openxmlformats.org/officeDocument/2006/relationships/font" Target="fonts/Raleway-boldItalic.fntdata"/><Relationship Id="rId16" Type="http://schemas.openxmlformats.org/officeDocument/2006/relationships/slide" Target="slides/slide11.xml"/><Relationship Id="rId38" Type="http://schemas.openxmlformats.org/officeDocument/2006/relationships/font" Target="fonts/Raleway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renenyffenegger.ch/notes/tools/Google-Earth/kml/index#:~:text=Google%20Earth%3A%20kml%20examples%201%20A%20simple%20placemark,7%20Cube%20...%208%20Polygon%20...%20More%20items" TargetMode="Externa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This is where people often get confused. It kind of looks like java in some of its syntax. It shares a name with java. It even has a development history that’s tied to it…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But it’s really far more a lovechild of scheme and some other systems than it is something like java.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ECMA was the European Computer Manufacturers Association, but has been renamed just Ecma International. It develops standards.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It’s CLIENT SIDE. which is what’s so important.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And that’s why we learn it.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Source: </a:t>
            </a:r>
            <a:r>
              <a:rPr lang="en" u="sng">
                <a:solidFill>
                  <a:schemeClr val="hlink"/>
                </a:solidFill>
                <a:hlinkClick r:id="rId2"/>
              </a:rPr>
              <a:t>Google Earth: kml examples (renenyffenegger.ch)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But we don’t always want to map points…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30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3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3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30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30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" name="Google Shape;27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8" name="Google Shape;28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32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1" name="Google Shape;31;p32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32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" name="Google Shape;33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6" name="Google Shape;36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" name="Google Shape;38;p3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35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44" name="Google Shape;44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p35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6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" name="Google Shape;50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1" name="Google Shape;51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" name="Google Shape;53;p36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4" name="Google Shape;54;p36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5" name="Google Shape;55;p36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" name="Google Shape;59;p3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0" name="Google Shape;60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" name="Google Shape;62;p3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3" name="Google Shape;63;p3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4" name="Google Shape;64;p3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" name="Google Shape;67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8" name="Google Shape;68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" name="Google Shape;70;p3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1" name="Google Shape;71;p3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9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4" name="Google Shape;74;p3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7" name="Google Shape;77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40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40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4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www.naturalearthdata.com/downloads/10m-cultural-vectors/airports/" TargetMode="External"/><Relationship Id="rId4" Type="http://schemas.openxmlformats.org/officeDocument/2006/relationships/hyperlink" Target="https://mapshaper.org/" TargetMode="External"/><Relationship Id="rId5" Type="http://schemas.openxmlformats.org/officeDocument/2006/relationships/hyperlink" Target="https://geojson.i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Functions and Objects in javascript</a:t>
            </a:r>
            <a:endParaRPr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Familiarizing ourselves with our basic building blocks…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Reminder</a:t>
            </a:r>
            <a:endParaRPr/>
          </a:p>
        </p:txBody>
      </p:sp>
      <p:sp>
        <p:nvSpPr>
          <p:cNvPr id="93" name="Google Shape;93;p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8"/>
              <a:buNone/>
            </a:pPr>
            <a:r>
              <a:rPr b="1" lang="en"/>
              <a:t>The goal here is not to be a perfect coder.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b="1" lang="en"/>
              <a:t>It is not to immediately understand every aspect of javascript (or to ever do so!).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b="1" lang="en"/>
              <a:t>We’re laying a foundation that will allow us to understand, build, and share interactive cartographic products digitally.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rPr b="1" lang="en"/>
              <a:t>Things will click with time. Do the work and trust yourself.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8108"/>
              <a:buNone/>
            </a:pPr>
            <a:r>
              <a:rPr b="1" lang="en"/>
              <a:t>Also… don’t get too upset about semi-colons (;)...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Review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ChatGPT (and other tools)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 </a:t>
            </a:r>
            <a:r>
              <a:rPr b="1" lang="en"/>
              <a:t>brief</a:t>
            </a:r>
            <a:r>
              <a:rPr lang="en"/>
              <a:t> introduction to: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Objects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Functions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Javascript… not java…</a:t>
            </a:r>
            <a:endParaRPr/>
          </a:p>
        </p:txBody>
      </p:sp>
      <p:sp>
        <p:nvSpPr>
          <p:cNvPr id="105" name="Google Shape;105;p4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Goal was for something lightweight and easy to grasp - for scripters, not programmers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Java seen as too heavy, too ‘enterprise’ like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Idea was originally a scripting companion to java (java for programs, javascript for web pages, etc.)</a:t>
            </a:r>
            <a:br>
              <a:rPr lang="en"/>
            </a:b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First called Mocha, then LiveScript, and eventually Javascript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b="1" i="1" lang="en"/>
              <a:t>Allegedly</a:t>
            </a:r>
            <a:r>
              <a:rPr lang="en"/>
              <a:t> developed in ten days</a:t>
            </a:r>
            <a:br>
              <a:rPr lang="en"/>
            </a:b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BUT IT’S NOT REALLY AT ALL LIKE JAVA</a:t>
            </a:r>
            <a:endParaRPr/>
          </a:p>
        </p:txBody>
      </p:sp>
      <p:pic>
        <p:nvPicPr>
          <p:cNvPr id="106" name="Google Shape;10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6025" y="2006250"/>
            <a:ext cx="4335576" cy="2716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ECMAscipt vs. JScript vs…</a:t>
            </a:r>
            <a:endParaRPr/>
          </a:p>
        </p:txBody>
      </p:sp>
      <p:sp>
        <p:nvSpPr>
          <p:cNvPr id="112" name="Google Shape;112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“Browser Wars”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Basically, each browser had its own specific scripting elements. They were </a:t>
            </a:r>
            <a:r>
              <a:rPr i="1" lang="en"/>
              <a:t>similar</a:t>
            </a:r>
            <a:r>
              <a:rPr lang="en"/>
              <a:t> but not the same.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This was a nightmare and really stagnated web development for a few years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Google debuts Chrome with V8 Javascript engine in 2008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Just-In-Time compilation makes it faster…</a:t>
            </a:r>
            <a:br>
              <a:rPr lang="en"/>
            </a:b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Finally, in 2009 they all agree to work together with ECMA standards</a:t>
            </a:r>
            <a:endParaRPr/>
          </a:p>
        </p:txBody>
      </p:sp>
      <p:pic>
        <p:nvPicPr>
          <p:cNvPr id="113" name="Google Shape;11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3625" y="3557124"/>
            <a:ext cx="3914225" cy="782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37000" y="598475"/>
            <a:ext cx="2847476" cy="2847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Allows for dynamic interactions on the web.</a:t>
            </a:r>
            <a:br>
              <a:rPr lang="en"/>
            </a:br>
            <a:br>
              <a:rPr lang="en"/>
            </a:br>
            <a:r>
              <a:rPr lang="en"/>
              <a:t>All modern browsers have dedicated engines to execute it.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‘Dynamic’ Text</a:t>
            </a:r>
            <a:endParaRPr/>
          </a:p>
        </p:txBody>
      </p:sp>
      <p:sp>
        <p:nvSpPr>
          <p:cNvPr id="125" name="Google Shape;125;p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is a bit canned, but let’s see how you can use javascript to manipulate the DOM and ‘create’ a web page.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In your /js/ directory, create a file called [whatever].js (I called mine scripts.js)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Now, let’s load and inspect it…</a:t>
            </a:r>
            <a:endParaRPr/>
          </a:p>
        </p:txBody>
      </p:sp>
      <p:pic>
        <p:nvPicPr>
          <p:cNvPr id="126" name="Google Shape;12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1121" y="499657"/>
            <a:ext cx="4640374" cy="461079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7"/>
          <p:cNvSpPr txBox="1"/>
          <p:nvPr/>
        </p:nvSpPr>
        <p:spPr>
          <a:xfrm>
            <a:off x="1095025" y="4121500"/>
            <a:ext cx="3042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Notice I’m doing something very sloppy here, what is it?</a:t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‘Dynamic’ Text</a:t>
            </a:r>
            <a:endParaRPr/>
          </a:p>
        </p:txBody>
      </p:sp>
      <p:pic>
        <p:nvPicPr>
          <p:cNvPr id="133" name="Google Shape;13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325" y="2168425"/>
            <a:ext cx="7486650" cy="161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2400"/>
            <a:ext cx="9144001" cy="3553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Pseudocode helps us think computationally</a:t>
            </a:r>
            <a:endParaRPr/>
          </a:p>
        </p:txBody>
      </p:sp>
      <p:sp>
        <p:nvSpPr>
          <p:cNvPr id="144" name="Google Shape;144;p10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Start by writing down what you want your script to do.</a:t>
            </a:r>
            <a:br>
              <a:rPr lang="en"/>
            </a:b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Then, fill in each step you have to take to accomplish that goal.</a:t>
            </a:r>
            <a:br>
              <a:rPr lang="en"/>
            </a:b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 sounds simple, and can be, but it’s an important way to </a:t>
            </a:r>
            <a:r>
              <a:rPr i="1" lang="en"/>
              <a:t>think through</a:t>
            </a:r>
            <a:r>
              <a:rPr lang="en"/>
              <a:t> our goals.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45" name="Google Shape;145;p10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"/>
              <a:t>Make a cup of tea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Gather ingredients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Tea bag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Cup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Water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"/>
              <a:t>Kettle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"/>
              <a:t>…. And so on… break it apart!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When stuck, try to write it out in pseudocode.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GPT-3 (or 4 or 5 or…)</a:t>
            </a:r>
            <a:endParaRPr/>
          </a:p>
        </p:txBody>
      </p:sp>
      <p:sp>
        <p:nvSpPr>
          <p:cNvPr id="156" name="Google Shape;156;p12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Generative AI and coding</a:t>
            </a:r>
            <a:endParaRPr/>
          </a:p>
        </p:txBody>
      </p:sp>
      <p:sp>
        <p:nvSpPr>
          <p:cNvPr id="157" name="Google Shape;157;p12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GPT-whatever is a deep learning model that produces human like text…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There are other models.</a:t>
            </a:r>
            <a:endParaRPr/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Google has Gemini</a:t>
            </a:r>
            <a:endParaRPr/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Microsoft has Copilot</a:t>
            </a:r>
            <a:endParaRPr/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Etc.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Most, though not all, can write code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Let’s look at OpenAI’s ChatGPT</a:t>
            </a:r>
            <a:br>
              <a:rPr lang="en"/>
            </a:b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Go to: chat.openai.com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2388" y="0"/>
            <a:ext cx="547923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Know the fundamentals first!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Cite your usage!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ChatGPT vs. Stack Overflow</a:t>
            </a:r>
            <a:endParaRPr/>
          </a:p>
        </p:txBody>
      </p:sp>
      <p:sp>
        <p:nvSpPr>
          <p:cNvPr id="173" name="Google Shape;173;p1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 huge part of scripting is </a:t>
            </a:r>
            <a:r>
              <a:rPr b="1" i="1" lang="en"/>
              <a:t>leveraging</a:t>
            </a:r>
            <a:r>
              <a:rPr lang="en"/>
              <a:t> existing knowledge.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Whether it’s code generated by a GPT model or found on Stack Overflow (or from a classmate’s help!), make sure you </a:t>
            </a:r>
            <a:r>
              <a:rPr b="1" i="1" lang="en"/>
              <a:t>understand</a:t>
            </a:r>
            <a:r>
              <a:rPr lang="en"/>
              <a:t> what it is doing and </a:t>
            </a:r>
            <a:r>
              <a:rPr b="1" i="1" lang="en"/>
              <a:t>why</a:t>
            </a:r>
            <a:r>
              <a:rPr lang="en"/>
              <a:t> it works.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"/>
              <a:t>AND CITE YOUR SOURCES!</a:t>
            </a:r>
            <a:endParaRPr/>
          </a:p>
        </p:txBody>
      </p:sp>
      <p:pic>
        <p:nvPicPr>
          <p:cNvPr id="174" name="Google Shape;1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7775" y="936800"/>
            <a:ext cx="3846901" cy="3846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Objects</a:t>
            </a:r>
            <a:endParaRPr/>
          </a:p>
        </p:txBody>
      </p:sp>
      <p:sp>
        <p:nvSpPr>
          <p:cNvPr id="180" name="Google Shape;180;p16"/>
          <p:cNvSpPr txBox="1"/>
          <p:nvPr>
            <p:ph idx="1" type="body"/>
          </p:nvPr>
        </p:nvSpPr>
        <p:spPr>
          <a:xfrm>
            <a:off x="730000" y="234977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Remember our friend DOM?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Document </a:t>
            </a:r>
            <a:r>
              <a:rPr b="1" lang="en"/>
              <a:t>Object</a:t>
            </a:r>
            <a:r>
              <a:rPr lang="en"/>
              <a:t> Model</a:t>
            </a:r>
            <a:br>
              <a:rPr lang="en"/>
            </a:b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Ultimately, an “object” is a region of memory that contain value and are referenced by identifiers</a:t>
            </a:r>
            <a:endParaRPr/>
          </a:p>
        </p:txBody>
      </p:sp>
      <p:pic>
        <p:nvPicPr>
          <p:cNvPr id="181" name="Google Shape;18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541100"/>
            <a:ext cx="4419600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00" y="935375"/>
            <a:ext cx="9102000" cy="327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7392" y="0"/>
            <a:ext cx="578922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Functions</a:t>
            </a:r>
            <a:endParaRPr/>
          </a:p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Pieces of code that run when called upon.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First you </a:t>
            </a:r>
            <a:r>
              <a:rPr b="1" lang="en"/>
              <a:t>define</a:t>
            </a:r>
            <a:r>
              <a:rPr lang="en"/>
              <a:t> a function (and give it a name)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Then you can </a:t>
            </a:r>
            <a:r>
              <a:rPr b="1" lang="en"/>
              <a:t>call</a:t>
            </a:r>
            <a:r>
              <a:rPr lang="en"/>
              <a:t> the function to execute</a:t>
            </a:r>
            <a:endParaRPr/>
          </a:p>
        </p:txBody>
      </p:sp>
      <p:pic>
        <p:nvPicPr>
          <p:cNvPr id="198" name="Google Shape;19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1038" y="2905763"/>
            <a:ext cx="5553075" cy="212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Let’s write a function that squares a number.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Common Data Formats</a:t>
            </a:r>
            <a:endParaRPr/>
          </a:p>
        </p:txBody>
      </p:sp>
      <p:sp>
        <p:nvSpPr>
          <p:cNvPr id="209" name="Google Shape;209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Geospatial data reference to a coordinate system that models the Earth’s surface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Can be 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vector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or 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raster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Geospatial data, when mapped, need to be 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projected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from a 3-dimensional earth to a 2-dimensional representation thereof.</a:t>
            </a:r>
            <a:br>
              <a:rPr lang="en">
                <a:latin typeface="Roboto Slab"/>
                <a:ea typeface="Roboto Slab"/>
                <a:cs typeface="Roboto Slab"/>
                <a:sym typeface="Roboto Slab"/>
              </a:rPr>
            </a:br>
            <a:br>
              <a:rPr lang="en">
                <a:latin typeface="Roboto Slab"/>
                <a:ea typeface="Roboto Slab"/>
                <a:cs typeface="Roboto Slab"/>
                <a:sym typeface="Roboto Slab"/>
              </a:rPr>
            </a:b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Shapefiles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are a </a:t>
            </a:r>
            <a:r>
              <a:rPr i="1" lang="en">
                <a:latin typeface="Roboto Slab"/>
                <a:ea typeface="Roboto Slab"/>
                <a:cs typeface="Roboto Slab"/>
                <a:sym typeface="Roboto Slab"/>
              </a:rPr>
              <a:t>technically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 open data format popularized by ESRI since the early 1990s.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Slab"/>
              <a:buChar char="○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They actually consist of upwards of six separate files (.prj, .dbf, etc.) with the ‘shapefile’ serving as a container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Slab"/>
              <a:buChar char="○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This is not good for use in the DOM which needs to be able to read them as text.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Common Data Formats</a:t>
            </a:r>
            <a:endParaRPr/>
          </a:p>
        </p:txBody>
      </p:sp>
      <p:sp>
        <p:nvSpPr>
          <p:cNvPr id="215" name="Google Shape;215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Slab"/>
              <a:buChar char="●"/>
            </a:pPr>
            <a:r>
              <a:rPr b="1" lang="en" sz="1500">
                <a:latin typeface="Roboto Slab"/>
                <a:ea typeface="Roboto Slab"/>
                <a:cs typeface="Roboto Slab"/>
                <a:sym typeface="Roboto Slab"/>
              </a:rPr>
              <a:t>KML</a:t>
            </a:r>
            <a:endParaRPr sz="15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Char char="○"/>
            </a:pP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Keyhole Markup Language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Char char="○"/>
            </a:pP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An extension of XML (eXtensible Markup Language)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Char char="○"/>
            </a:pP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Used by Google Earth and the Google Maps API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Char char="○"/>
            </a:pPr>
            <a:r>
              <a:rPr lang="en" sz="1300">
                <a:latin typeface="Roboto Slab"/>
                <a:ea typeface="Roboto Slab"/>
                <a:cs typeface="Roboto Slab"/>
                <a:sym typeface="Roboto Slab"/>
              </a:rPr>
              <a:t>Still popular, but moving towards JSON/GeoJSON (not tied to a single company, more easily parsible, etc.)</a:t>
            </a:r>
            <a:endParaRPr sz="13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KML Example</a:t>
            </a:r>
            <a:endParaRPr/>
          </a:p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006250"/>
            <a:ext cx="4406417" cy="2984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1217" y="2006250"/>
            <a:ext cx="4078712" cy="298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Common Data Formats</a:t>
            </a:r>
            <a:endParaRPr/>
          </a:p>
        </p:txBody>
      </p:sp>
      <p:sp>
        <p:nvSpPr>
          <p:cNvPr id="228" name="Google Shape;228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Char char="●"/>
            </a:pPr>
            <a:r>
              <a:rPr b="1" lang="en" sz="1400">
                <a:latin typeface="Roboto Slab"/>
                <a:ea typeface="Roboto Slab"/>
                <a:cs typeface="Roboto Slab"/>
                <a:sym typeface="Roboto Slab"/>
              </a:rPr>
              <a:t>CSV</a:t>
            </a:r>
            <a:endParaRPr sz="1400">
              <a:latin typeface="Roboto Slab"/>
              <a:ea typeface="Roboto Slab"/>
              <a:cs typeface="Roboto Slab"/>
              <a:sym typeface="Roboto Slab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lab"/>
              <a:buChar char="○"/>
            </a:pPr>
            <a:r>
              <a:rPr lang="en" sz="1200">
                <a:latin typeface="Roboto Slab"/>
                <a:ea typeface="Roboto Slab"/>
                <a:cs typeface="Roboto Slab"/>
                <a:sym typeface="Roboto Slab"/>
              </a:rPr>
              <a:t>Comma Separated Values</a:t>
            </a:r>
            <a:endParaRPr sz="1200">
              <a:latin typeface="Roboto Slab"/>
              <a:ea typeface="Roboto Slab"/>
              <a:cs typeface="Roboto Slab"/>
              <a:sym typeface="Roboto Slab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lab"/>
              <a:buChar char="○"/>
            </a:pPr>
            <a:r>
              <a:rPr lang="en" sz="1200">
                <a:latin typeface="Roboto Slab"/>
                <a:ea typeface="Roboto Slab"/>
                <a:cs typeface="Roboto Slab"/>
                <a:sym typeface="Roboto Slab"/>
              </a:rPr>
              <a:t>A flat-file (meaning each file is a single table)</a:t>
            </a:r>
            <a:endParaRPr sz="1200">
              <a:latin typeface="Roboto Slab"/>
              <a:ea typeface="Roboto Slab"/>
              <a:cs typeface="Roboto Slab"/>
              <a:sym typeface="Roboto Slab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lab"/>
              <a:buChar char="○"/>
            </a:pPr>
            <a:r>
              <a:rPr lang="en" sz="1200">
                <a:latin typeface="Roboto Slab"/>
                <a:ea typeface="Roboto Slab"/>
                <a:cs typeface="Roboto Slab"/>
                <a:sym typeface="Roboto Slab"/>
              </a:rPr>
              <a:t>A matrix of columns and rows with entries separated by files.</a:t>
            </a:r>
            <a:endParaRPr sz="1200">
              <a:latin typeface="Roboto Slab"/>
              <a:ea typeface="Roboto Slab"/>
              <a:cs typeface="Roboto Slab"/>
              <a:sym typeface="Roboto Slab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lab"/>
              <a:buChar char="○"/>
            </a:pPr>
            <a:r>
              <a:rPr lang="en" sz="1200">
                <a:latin typeface="Roboto Slab"/>
                <a:ea typeface="Roboto Slab"/>
                <a:cs typeface="Roboto Slab"/>
                <a:sym typeface="Roboto Slab"/>
              </a:rPr>
              <a:t>Modern spreadsheet software can open and view .csv files…</a:t>
            </a:r>
            <a:endParaRPr sz="1200"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229" name="Google Shape;22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7713" y="843350"/>
            <a:ext cx="1952625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CSVs are good for point data…</a:t>
            </a:r>
            <a:endParaRPr/>
          </a:p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2006250"/>
            <a:ext cx="8839200" cy="1937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JSON and GeoJSON</a:t>
            </a:r>
            <a:endParaRPr/>
          </a:p>
        </p:txBody>
      </p:sp>
      <p:sp>
        <p:nvSpPr>
          <p:cNvPr id="241" name="Google Shape;241;p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Char char="●"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JavaScript Object Notation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Slab"/>
              <a:buChar char="○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Open standard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Slab"/>
              <a:buChar char="○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‘Human readable’ (lol)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Slab"/>
              <a:buChar char="○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Language-independent, but derived from javascript’s </a:t>
            </a: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object </a:t>
            </a: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structure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Slab"/>
              <a:buChar char="○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Developed due to need for real-time server-to-browser communication without plug-ins (Java, Flash, etc.).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Slab"/>
              <a:buChar char="■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So, yes, JSON killed Flash (sort of, but not really)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Slab"/>
              <a:buChar char="●"/>
            </a:pPr>
            <a:r>
              <a:rPr b="1" lang="en">
                <a:latin typeface="Roboto Slab"/>
                <a:ea typeface="Roboto Slab"/>
                <a:cs typeface="Roboto Slab"/>
                <a:sym typeface="Roboto Slab"/>
              </a:rPr>
              <a:t>geoJSON</a:t>
            </a:r>
            <a:endParaRPr b="1">
              <a:latin typeface="Roboto Slab"/>
              <a:ea typeface="Roboto Slab"/>
              <a:cs typeface="Roboto Slab"/>
              <a:sym typeface="Roboto Slab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Slab"/>
              <a:buChar char="○"/>
            </a:pPr>
            <a:r>
              <a:rPr lang="en">
                <a:latin typeface="Roboto Slab"/>
                <a:ea typeface="Roboto Slab"/>
                <a:cs typeface="Roboto Slab"/>
                <a:sym typeface="Roboto Slab"/>
              </a:rPr>
              <a:t>Added simple geographical features to JSON - points, lines, polygon, multipart collections thereof</a:t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Slab"/>
              <a:buChar char="○"/>
            </a:pPr>
            <a:r>
              <a:t/>
            </a:r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geoJSON</a:t>
            </a:r>
            <a:endParaRPr/>
          </a:p>
        </p:txBody>
      </p:sp>
      <p:pic>
        <p:nvPicPr>
          <p:cNvPr id="247" name="Google Shape;24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4597" y="1853850"/>
            <a:ext cx="6147078" cy="328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Let’s explore geoJSON</a:t>
            </a:r>
            <a:endParaRPr/>
          </a:p>
        </p:txBody>
      </p:sp>
      <p:sp>
        <p:nvSpPr>
          <p:cNvPr id="253" name="Google Shape;253;p28"/>
          <p:cNvSpPr txBox="1"/>
          <p:nvPr>
            <p:ph idx="1" type="body"/>
          </p:nvPr>
        </p:nvSpPr>
        <p:spPr>
          <a:xfrm>
            <a:off x="729450" y="2078875"/>
            <a:ext cx="7688700" cy="28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Char char="●"/>
            </a:pPr>
            <a:r>
              <a:rPr lang="en" sz="1400">
                <a:latin typeface="Roboto Slab"/>
                <a:ea typeface="Roboto Slab"/>
                <a:cs typeface="Roboto Slab"/>
                <a:sym typeface="Roboto Slab"/>
              </a:rPr>
              <a:t>Grab a shapefile or csv that contains spatial information</a:t>
            </a:r>
            <a:endParaRPr sz="1400">
              <a:latin typeface="Roboto Slab"/>
              <a:ea typeface="Roboto Slab"/>
              <a:cs typeface="Roboto Slab"/>
              <a:sym typeface="Roboto Slab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lab"/>
              <a:buChar char="○"/>
            </a:pPr>
            <a:r>
              <a:rPr lang="en" sz="1200">
                <a:latin typeface="Roboto Slab"/>
                <a:ea typeface="Roboto Slab"/>
                <a:cs typeface="Roboto Slab"/>
                <a:sym typeface="Roboto Slab"/>
              </a:rPr>
              <a:t>At a loss, you can just go back to the airports data we used in lab 1:</a:t>
            </a:r>
            <a:endParaRPr sz="1200">
              <a:latin typeface="Roboto Slab"/>
              <a:ea typeface="Roboto Slab"/>
              <a:cs typeface="Roboto Slab"/>
              <a:sym typeface="Roboto Slab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lab"/>
              <a:buChar char="○"/>
            </a:pPr>
            <a:r>
              <a:rPr lang="en" sz="1200" u="sng">
                <a:solidFill>
                  <a:schemeClr val="hlink"/>
                </a:solidFill>
                <a:latin typeface="Roboto Slab"/>
                <a:ea typeface="Roboto Slab"/>
                <a:cs typeface="Roboto Slab"/>
                <a:sym typeface="Roboto Slab"/>
                <a:hlinkClick r:id="rId3"/>
              </a:rPr>
              <a:t>https://www.naturalearthdata.com/downloads/10m-cultural-vectors/airports/</a:t>
            </a:r>
            <a:endParaRPr sz="12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Char char="●"/>
            </a:pPr>
            <a:r>
              <a:rPr lang="en" sz="1400">
                <a:latin typeface="Roboto Slab"/>
                <a:ea typeface="Roboto Slab"/>
                <a:cs typeface="Roboto Slab"/>
                <a:sym typeface="Roboto Slab"/>
              </a:rPr>
              <a:t>Convert it to geojson using QGIS, ArcGIS or the mapshaper tool:</a:t>
            </a:r>
            <a:endParaRPr sz="1400">
              <a:latin typeface="Roboto Slab"/>
              <a:ea typeface="Roboto Slab"/>
              <a:cs typeface="Roboto Slab"/>
              <a:sym typeface="Roboto Slab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lab"/>
              <a:buChar char="○"/>
            </a:pPr>
            <a:r>
              <a:rPr lang="en" sz="1200" u="sng">
                <a:solidFill>
                  <a:schemeClr val="hlink"/>
                </a:solidFill>
                <a:latin typeface="Roboto Slab"/>
                <a:ea typeface="Roboto Slab"/>
                <a:cs typeface="Roboto Slab"/>
                <a:sym typeface="Roboto Slab"/>
                <a:hlinkClick r:id="rId4"/>
              </a:rPr>
              <a:t>https://mapshaper.org/</a:t>
            </a:r>
            <a:endParaRPr sz="12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Char char="●"/>
            </a:pPr>
            <a:r>
              <a:rPr lang="en" sz="1400">
                <a:latin typeface="Roboto Slab"/>
                <a:ea typeface="Roboto Slab"/>
                <a:cs typeface="Roboto Slab"/>
                <a:sym typeface="Roboto Slab"/>
              </a:rPr>
              <a:t>Upload it to geojson.io and explore!</a:t>
            </a:r>
            <a:endParaRPr sz="1400">
              <a:latin typeface="Roboto Slab"/>
              <a:ea typeface="Roboto Slab"/>
              <a:cs typeface="Roboto Slab"/>
              <a:sym typeface="Roboto Slab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lab"/>
              <a:buChar char="○"/>
            </a:pPr>
            <a:r>
              <a:rPr lang="en" sz="1200" u="sng">
                <a:solidFill>
                  <a:schemeClr val="hlink"/>
                </a:solidFill>
                <a:latin typeface="Roboto Slab"/>
                <a:ea typeface="Roboto Slab"/>
                <a:cs typeface="Roboto Slab"/>
                <a:sym typeface="Roboto Slab"/>
                <a:hlinkClick r:id="rId5"/>
              </a:rPr>
              <a:t>https://geojson.io</a:t>
            </a:r>
            <a:endParaRPr sz="1200">
              <a:latin typeface="Roboto Slab"/>
              <a:ea typeface="Roboto Slab"/>
              <a:cs typeface="Roboto Slab"/>
              <a:sym typeface="Roboto Slab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lab"/>
              <a:buChar char="○"/>
            </a:pPr>
            <a:r>
              <a:rPr lang="en" sz="1200">
                <a:latin typeface="Roboto Slab"/>
                <a:ea typeface="Roboto Slab"/>
                <a:cs typeface="Roboto Slab"/>
                <a:sym typeface="Roboto Slab"/>
              </a:rPr>
              <a:t>(If you’re feeling experimental or lazy, you can use the ‘meta’ tab to add and generate other content)</a:t>
            </a:r>
            <a:endParaRPr sz="1200">
              <a:latin typeface="Roboto Slab"/>
              <a:ea typeface="Roboto Slab"/>
              <a:cs typeface="Roboto Slab"/>
              <a:sym typeface="Roboto Slab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Char char="●"/>
            </a:pPr>
            <a:r>
              <a:rPr b="1" lang="en" sz="1400">
                <a:latin typeface="Roboto Slab"/>
                <a:ea typeface="Roboto Slab"/>
                <a:cs typeface="Roboto Slab"/>
                <a:sym typeface="Roboto Slab"/>
              </a:rPr>
              <a:t>What do you see here? What does geoJSON look like?</a:t>
            </a:r>
            <a:endParaRPr b="1" sz="1400">
              <a:latin typeface="Roboto Slab"/>
              <a:ea typeface="Roboto Slab"/>
              <a:cs typeface="Roboto Slab"/>
              <a:sym typeface="Roboto Slab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Slab"/>
              <a:buChar char="○"/>
            </a:pPr>
            <a:r>
              <a:rPr b="1" lang="en" sz="1200">
                <a:latin typeface="Roboto Slab"/>
                <a:ea typeface="Roboto Slab"/>
                <a:cs typeface="Roboto Slab"/>
                <a:sym typeface="Roboto Slab"/>
              </a:rPr>
              <a:t>Finally, look at the ‘save’ tab… see how you can convert data between these various formats? Are there ones you don’t recognize?</a:t>
            </a:r>
            <a:endParaRPr b="1" sz="1200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