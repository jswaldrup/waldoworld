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Roboto Slab"/>
      <p:regular r:id="rId10"/>
      <p:bold r:id="rId11"/>
    </p:embeddedFont>
    <p:embeddedFont>
      <p:font typeface="Roboto Slab Light"/>
      <p:regular r:id="rId12"/>
      <p:bold r:id="rId13"/>
    </p:embeddedFont>
    <p:embeddedFont>
      <p:font typeface="Raleway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8" roundtripDataSignature="AMtx7mj98Sby/U5t2fgbaaxKFeOGFS8a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Slab-bold.fntdata"/><Relationship Id="rId10" Type="http://schemas.openxmlformats.org/officeDocument/2006/relationships/font" Target="fonts/RobotoSlab-regular.fntdata"/><Relationship Id="rId13" Type="http://schemas.openxmlformats.org/officeDocument/2006/relationships/font" Target="fonts/RobotoSlabLight-bold.fntdata"/><Relationship Id="rId12" Type="http://schemas.openxmlformats.org/officeDocument/2006/relationships/font" Target="fonts/RobotoSlabLigh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bold.fntdata"/><Relationship Id="rId14" Type="http://schemas.openxmlformats.org/officeDocument/2006/relationships/font" Target="fonts/Raleway-regular.fntdata"/><Relationship Id="rId17" Type="http://schemas.openxmlformats.org/officeDocument/2006/relationships/font" Target="fonts/Raleway-boldItalic.fntdata"/><Relationship Id="rId16" Type="http://schemas.openxmlformats.org/officeDocument/2006/relationships/font" Target="fonts/Raleway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en" sz="5600">
                <a:solidFill>
                  <a:srgbClr val="E69138"/>
                </a:solidFill>
                <a:latin typeface="Roboto Slab"/>
                <a:ea typeface="Roboto Slab"/>
                <a:cs typeface="Roboto Slab"/>
                <a:sym typeface="Roboto Slab"/>
              </a:rPr>
              <a:t>Grad Intro!</a:t>
            </a:r>
            <a:endParaRPr b="1" sz="5600">
              <a:solidFill>
                <a:srgbClr val="E69138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1" lang="en">
                <a:solidFill>
                  <a:srgbClr val="3D85C6"/>
                </a:solidFill>
                <a:latin typeface="Raleway"/>
                <a:ea typeface="Raleway"/>
                <a:cs typeface="Raleway"/>
                <a:sym typeface="Raleway"/>
              </a:rPr>
              <a:t>Reading, Discussing, Writing!</a:t>
            </a:r>
            <a:endParaRPr b="1" i="1">
              <a:solidFill>
                <a:srgbClr val="3D85C6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>
                <a:solidFill>
                  <a:srgbClr val="E69138"/>
                </a:solidFill>
                <a:latin typeface="Raleway"/>
                <a:ea typeface="Raleway"/>
                <a:cs typeface="Raleway"/>
                <a:sym typeface="Raleway"/>
              </a:rPr>
              <a:t>First, let’s introduce ourselves</a:t>
            </a:r>
            <a:endParaRPr b="1">
              <a:solidFill>
                <a:srgbClr val="E69138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1" name="Google Shape;61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3D85C6"/>
                </a:solidFill>
                <a:latin typeface="Roboto Slab"/>
                <a:ea typeface="Roboto Slab"/>
                <a:cs typeface="Roboto Slab"/>
                <a:sym typeface="Roboto Slab"/>
              </a:rPr>
              <a:t>Please tell me:</a:t>
            </a:r>
            <a:endParaRPr>
              <a:solidFill>
                <a:srgbClr val="3D85C6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D85C6"/>
              </a:buClr>
              <a:buSzPts val="1800"/>
              <a:buFont typeface="Roboto Slab Light"/>
              <a:buChar char="●"/>
            </a:pPr>
            <a:r>
              <a:rPr lang="en">
                <a:solidFill>
                  <a:srgbClr val="3D85C6"/>
                </a:solidFill>
                <a:latin typeface="Roboto Slab Light"/>
                <a:ea typeface="Roboto Slab Light"/>
                <a:cs typeface="Roboto Slab Light"/>
                <a:sym typeface="Roboto Slab Light"/>
              </a:rPr>
              <a:t>Name, year, and program/degree</a:t>
            </a:r>
            <a:endParaRPr>
              <a:solidFill>
                <a:srgbClr val="3D85C6"/>
              </a:solidFill>
              <a:latin typeface="Roboto Slab Light"/>
              <a:ea typeface="Roboto Slab Light"/>
              <a:cs typeface="Roboto Slab Light"/>
              <a:sym typeface="Roboto Slab Light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800"/>
              <a:buFont typeface="Roboto Slab Light"/>
              <a:buChar char="●"/>
            </a:pPr>
            <a:r>
              <a:rPr lang="en">
                <a:solidFill>
                  <a:srgbClr val="3D85C6"/>
                </a:solidFill>
                <a:latin typeface="Roboto Slab Light"/>
                <a:ea typeface="Roboto Slab Light"/>
                <a:cs typeface="Roboto Slab Light"/>
                <a:sym typeface="Roboto Slab Light"/>
              </a:rPr>
              <a:t>Research areas/interests</a:t>
            </a:r>
            <a:endParaRPr>
              <a:solidFill>
                <a:srgbClr val="3D85C6"/>
              </a:solidFill>
              <a:latin typeface="Roboto Slab Light"/>
              <a:ea typeface="Roboto Slab Light"/>
              <a:cs typeface="Roboto Slab Light"/>
              <a:sym typeface="Roboto Slab Light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800"/>
              <a:buFont typeface="Roboto Slab Light"/>
              <a:buChar char="●"/>
            </a:pPr>
            <a:r>
              <a:rPr lang="en">
                <a:solidFill>
                  <a:srgbClr val="3D85C6"/>
                </a:solidFill>
                <a:latin typeface="Roboto Slab Light"/>
                <a:ea typeface="Roboto Slab Light"/>
                <a:cs typeface="Roboto Slab Light"/>
                <a:sym typeface="Roboto Slab Light"/>
              </a:rPr>
              <a:t>What brought you to this class or what you are hoping to get out of it</a:t>
            </a:r>
            <a:endParaRPr>
              <a:solidFill>
                <a:srgbClr val="3D85C6"/>
              </a:solidFill>
              <a:latin typeface="Roboto Slab Light"/>
              <a:ea typeface="Roboto Slab Light"/>
              <a:cs typeface="Roboto Slab Light"/>
              <a:sym typeface="Roboto Slab Light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800"/>
              <a:buFont typeface="Roboto Slab Light"/>
              <a:buChar char="●"/>
            </a:pPr>
            <a:r>
              <a:rPr lang="en">
                <a:solidFill>
                  <a:srgbClr val="3D85C6"/>
                </a:solidFill>
                <a:latin typeface="Roboto Slab Light"/>
                <a:ea typeface="Roboto Slab Light"/>
                <a:cs typeface="Roboto Slab Light"/>
                <a:sym typeface="Roboto Slab Light"/>
              </a:rPr>
              <a:t>One other random fact or tidbit, if you feel like it</a:t>
            </a:r>
            <a:endParaRPr>
              <a:solidFill>
                <a:srgbClr val="3D85C6"/>
              </a:solidFill>
              <a:latin typeface="Roboto Slab Light"/>
              <a:ea typeface="Roboto Slab Light"/>
              <a:cs typeface="Roboto Slab Light"/>
              <a:sym typeface="Roboto Slab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>
                <a:solidFill>
                  <a:srgbClr val="E69138"/>
                </a:solidFill>
                <a:latin typeface="Raleway"/>
                <a:ea typeface="Raleway"/>
                <a:cs typeface="Raleway"/>
                <a:sym typeface="Raleway"/>
              </a:rPr>
              <a:t>Second, let’s discuss the course</a:t>
            </a:r>
            <a:endParaRPr b="1">
              <a:solidFill>
                <a:srgbClr val="E69138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7" name="Google Shape;67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800"/>
              <a:buFont typeface="Roboto Slab"/>
              <a:buChar char="●"/>
            </a:pPr>
            <a:r>
              <a:rPr lang="en">
                <a:solidFill>
                  <a:srgbClr val="3D85C6"/>
                </a:solidFill>
                <a:latin typeface="Roboto Slab"/>
                <a:ea typeface="Roboto Slab"/>
                <a:cs typeface="Roboto Slab"/>
                <a:sym typeface="Roboto Slab"/>
              </a:rPr>
              <a:t>Four ‘grad required’ (others welcome) meetings throughout the term:</a:t>
            </a:r>
            <a:endParaRPr>
              <a:solidFill>
                <a:srgbClr val="3D85C6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-3175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400"/>
              <a:buFont typeface="Roboto Slab"/>
              <a:buChar char="○"/>
            </a:pPr>
            <a:r>
              <a:rPr lang="en">
                <a:solidFill>
                  <a:srgbClr val="3D85C6"/>
                </a:solidFill>
                <a:latin typeface="Roboto Slab"/>
                <a:ea typeface="Roboto Slab"/>
                <a:cs typeface="Roboto Slab"/>
                <a:sym typeface="Roboto Slab"/>
              </a:rPr>
              <a:t>1/9 - TODAY!</a:t>
            </a:r>
            <a:endParaRPr>
              <a:solidFill>
                <a:srgbClr val="3D85C6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-3175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400"/>
              <a:buFont typeface="Roboto Slab"/>
              <a:buChar char="○"/>
            </a:pPr>
            <a:r>
              <a:rPr lang="en">
                <a:solidFill>
                  <a:srgbClr val="3D85C6"/>
                </a:solidFill>
                <a:latin typeface="Roboto Slab"/>
                <a:ea typeface="Roboto Slab"/>
                <a:cs typeface="Roboto Slab"/>
                <a:sym typeface="Roboto Slab"/>
              </a:rPr>
              <a:t>1/30</a:t>
            </a:r>
            <a:endParaRPr>
              <a:solidFill>
                <a:srgbClr val="3D85C6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-3175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400"/>
              <a:buFont typeface="Roboto Slab"/>
              <a:buChar char="○"/>
            </a:pPr>
            <a:r>
              <a:rPr lang="en">
                <a:solidFill>
                  <a:srgbClr val="3D85C6"/>
                </a:solidFill>
                <a:latin typeface="Roboto Slab"/>
                <a:ea typeface="Roboto Slab"/>
                <a:cs typeface="Roboto Slab"/>
                <a:sym typeface="Roboto Slab"/>
              </a:rPr>
              <a:t>2/20</a:t>
            </a:r>
            <a:endParaRPr>
              <a:solidFill>
                <a:srgbClr val="3D85C6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-3175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400"/>
              <a:buFont typeface="Roboto Slab"/>
              <a:buChar char="○"/>
            </a:pPr>
            <a:r>
              <a:rPr lang="en">
                <a:solidFill>
                  <a:srgbClr val="3D85C6"/>
                </a:solidFill>
                <a:latin typeface="Roboto Slab"/>
                <a:ea typeface="Roboto Slab"/>
                <a:cs typeface="Roboto Slab"/>
                <a:sym typeface="Roboto Slab"/>
              </a:rPr>
              <a:t>3/6</a:t>
            </a:r>
            <a:endParaRPr>
              <a:solidFill>
                <a:srgbClr val="3D85C6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800"/>
              <a:buFont typeface="Roboto Slab"/>
              <a:buChar char="●"/>
            </a:pPr>
            <a:r>
              <a:rPr lang="en">
                <a:solidFill>
                  <a:srgbClr val="3D85C6"/>
                </a:solidFill>
                <a:latin typeface="Roboto Slab"/>
                <a:ea typeface="Roboto Slab"/>
                <a:cs typeface="Roboto Slab"/>
                <a:sym typeface="Roboto Slab"/>
              </a:rPr>
              <a:t>In the other three - in small groups (3 or 4) you will lead discussion on articles you select (with me)</a:t>
            </a:r>
            <a:endParaRPr>
              <a:solidFill>
                <a:srgbClr val="3D85C6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800"/>
              <a:buFont typeface="Roboto Slab"/>
              <a:buChar char="●"/>
            </a:pPr>
            <a:r>
              <a:rPr lang="en">
                <a:solidFill>
                  <a:srgbClr val="3D85C6"/>
                </a:solidFill>
                <a:latin typeface="Roboto Slab"/>
                <a:ea typeface="Roboto Slab"/>
                <a:cs typeface="Roboto Slab"/>
                <a:sym typeface="Roboto Slab"/>
              </a:rPr>
              <a:t>Schedule works like this:</a:t>
            </a:r>
            <a:endParaRPr>
              <a:solidFill>
                <a:srgbClr val="3D85C6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400"/>
              <a:buFont typeface="Roboto Slab"/>
              <a:buChar char="○"/>
            </a:pPr>
            <a:r>
              <a:rPr lang="en">
                <a:solidFill>
                  <a:srgbClr val="3D85C6"/>
                </a:solidFill>
                <a:latin typeface="Roboto Slab"/>
                <a:ea typeface="Roboto Slab"/>
                <a:cs typeface="Roboto Slab"/>
                <a:sym typeface="Roboto Slab"/>
              </a:rPr>
              <a:t>Two weeks out - you meet with me and we select articles</a:t>
            </a:r>
            <a:endParaRPr>
              <a:solidFill>
                <a:srgbClr val="3D85C6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400"/>
              <a:buFont typeface="Roboto Slab"/>
              <a:buChar char="○"/>
            </a:pPr>
            <a:r>
              <a:rPr lang="en">
                <a:solidFill>
                  <a:srgbClr val="3D85C6"/>
                </a:solidFill>
                <a:latin typeface="Roboto Slab"/>
                <a:ea typeface="Roboto Slab"/>
                <a:cs typeface="Roboto Slab"/>
                <a:sym typeface="Roboto Slab"/>
              </a:rPr>
              <a:t>One week out - final articles are posted on canvas/github (you send them to me)</a:t>
            </a:r>
            <a:endParaRPr>
              <a:solidFill>
                <a:srgbClr val="3D85C6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400"/>
              <a:buFont typeface="Roboto Slab"/>
              <a:buChar char="○"/>
            </a:pPr>
            <a:r>
              <a:rPr lang="en">
                <a:solidFill>
                  <a:srgbClr val="3D85C6"/>
                </a:solidFill>
                <a:latin typeface="Roboto Slab"/>
                <a:ea typeface="Roboto Slab"/>
                <a:cs typeface="Roboto Slab"/>
                <a:sym typeface="Roboto Slab"/>
              </a:rPr>
              <a:t>During class - prepare a 10-20 minute summary of the pieces with key ideas and connections to other concepts, then facilitate a discussion for the rest of the period</a:t>
            </a:r>
            <a:endParaRPr>
              <a:solidFill>
                <a:srgbClr val="3D85C6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>
                <a:solidFill>
                  <a:srgbClr val="E69138"/>
                </a:solidFill>
                <a:latin typeface="Raleway"/>
                <a:ea typeface="Raleway"/>
                <a:cs typeface="Raleway"/>
                <a:sym typeface="Raleway"/>
              </a:rPr>
              <a:t>Let’s organize!</a:t>
            </a:r>
            <a:endParaRPr b="1">
              <a:solidFill>
                <a:srgbClr val="E69138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3" name="Google Shape;73;p4"/>
          <p:cNvSpPr txBox="1"/>
          <p:nvPr/>
        </p:nvSpPr>
        <p:spPr>
          <a:xfrm>
            <a:off x="466075" y="1143000"/>
            <a:ext cx="3784500" cy="3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800"/>
              <a:buFont typeface="Roboto Slab"/>
              <a:buAutoNum type="arabicPeriod"/>
            </a:pPr>
            <a:r>
              <a:rPr b="0" i="0" lang="en" sz="1800" u="none" cap="none" strike="noStrike">
                <a:solidFill>
                  <a:srgbClr val="3D85C6"/>
                </a:solidFill>
                <a:latin typeface="Roboto Slab"/>
                <a:ea typeface="Roboto Slab"/>
                <a:cs typeface="Roboto Slab"/>
                <a:sym typeface="Roboto Slab"/>
              </a:rPr>
              <a:t>1/3</a:t>
            </a:r>
            <a:r>
              <a:rPr lang="en" sz="1800">
                <a:solidFill>
                  <a:srgbClr val="3D85C6"/>
                </a:solidFill>
                <a:latin typeface="Roboto Slab"/>
                <a:ea typeface="Roboto Slab"/>
                <a:cs typeface="Roboto Slab"/>
                <a:sym typeface="Roboto Slab"/>
              </a:rPr>
              <a:t>0</a:t>
            </a:r>
            <a:endParaRPr b="0" i="0" sz="1800" u="none" cap="none" strike="noStrike">
              <a:solidFill>
                <a:srgbClr val="3D85C6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800"/>
              <a:buFont typeface="Roboto Slab"/>
              <a:buAutoNum type="alphaLcPeriod"/>
            </a:pPr>
            <a:br>
              <a:rPr b="0" i="0" lang="en" sz="1800" u="none" cap="none" strike="noStrike">
                <a:solidFill>
                  <a:srgbClr val="3D85C6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br>
              <a:rPr b="0" i="0" lang="en" sz="1800" u="none" cap="none" strike="noStrike">
                <a:solidFill>
                  <a:srgbClr val="3D85C6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br>
              <a:rPr b="0" i="0" lang="en" sz="1800" u="none" cap="none" strike="noStrike">
                <a:solidFill>
                  <a:srgbClr val="3D85C6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br>
              <a:rPr b="0" i="0" lang="en" sz="1800" u="none" cap="none" strike="noStrike">
                <a:solidFill>
                  <a:srgbClr val="3D85C6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endParaRPr b="0" i="0" sz="1800" u="none" cap="none" strike="noStrike">
              <a:solidFill>
                <a:srgbClr val="3D85C6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800"/>
              <a:buFont typeface="Roboto Slab"/>
              <a:buAutoNum type="arabicPeriod"/>
            </a:pPr>
            <a:r>
              <a:rPr b="0" i="0" lang="en" sz="1800" u="none" cap="none" strike="noStrike">
                <a:solidFill>
                  <a:srgbClr val="3D85C6"/>
                </a:solidFill>
                <a:latin typeface="Roboto Slab"/>
                <a:ea typeface="Roboto Slab"/>
                <a:cs typeface="Roboto Slab"/>
                <a:sym typeface="Roboto Slab"/>
              </a:rPr>
              <a:t>2/2</a:t>
            </a:r>
            <a:r>
              <a:rPr lang="en" sz="1800">
                <a:solidFill>
                  <a:srgbClr val="3D85C6"/>
                </a:solidFill>
                <a:latin typeface="Roboto Slab"/>
                <a:ea typeface="Roboto Slab"/>
                <a:cs typeface="Roboto Slab"/>
                <a:sym typeface="Roboto Slab"/>
              </a:rPr>
              <a:t>0</a:t>
            </a:r>
            <a:endParaRPr b="0" i="0" sz="1800" u="none" cap="none" strike="noStrike">
              <a:solidFill>
                <a:srgbClr val="3D85C6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800"/>
              <a:buFont typeface="Roboto Slab"/>
              <a:buAutoNum type="alphaLcPeriod"/>
            </a:pPr>
            <a:r>
              <a:t/>
            </a:r>
            <a:endParaRPr b="0" i="0" sz="1800" u="none" cap="none" strike="noStrike">
              <a:solidFill>
                <a:srgbClr val="3D85C6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74" name="Google Shape;74;p4"/>
          <p:cNvSpPr txBox="1"/>
          <p:nvPr/>
        </p:nvSpPr>
        <p:spPr>
          <a:xfrm>
            <a:off x="4580875" y="1066800"/>
            <a:ext cx="3651000" cy="3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3D85C6"/>
                </a:solidFill>
                <a:latin typeface="Roboto Slab"/>
                <a:ea typeface="Roboto Slab"/>
                <a:cs typeface="Roboto Slab"/>
                <a:sym typeface="Roboto Slab"/>
              </a:rPr>
              <a:t>3. 3/</a:t>
            </a:r>
            <a:r>
              <a:rPr lang="en" sz="1800">
                <a:solidFill>
                  <a:srgbClr val="3D85C6"/>
                </a:solidFill>
                <a:latin typeface="Roboto Slab"/>
                <a:ea typeface="Roboto Slab"/>
                <a:cs typeface="Roboto Slab"/>
                <a:sym typeface="Roboto Slab"/>
              </a:rPr>
              <a:t>6</a:t>
            </a:r>
            <a:endParaRPr b="0" i="0" sz="1800" u="none" cap="none" strike="noStrike">
              <a:solidFill>
                <a:srgbClr val="3D85C6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800"/>
              <a:buFont typeface="Roboto Slab"/>
              <a:buAutoNum type="alphaLcPeriod"/>
            </a:pPr>
            <a:r>
              <a:t/>
            </a:r>
            <a:endParaRPr b="0" i="0" sz="1800" u="none" cap="none" strike="noStrike">
              <a:solidFill>
                <a:srgbClr val="3D85C6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75" name="Google Shape;75;p4"/>
          <p:cNvSpPr txBox="1"/>
          <p:nvPr/>
        </p:nvSpPr>
        <p:spPr>
          <a:xfrm>
            <a:off x="4549800" y="3184875"/>
            <a:ext cx="46164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3D85C6"/>
                </a:solidFill>
                <a:latin typeface="Roboto Slab"/>
                <a:ea typeface="Roboto Slab"/>
                <a:cs typeface="Roboto Slab"/>
                <a:sym typeface="Roboto Slab"/>
              </a:rPr>
              <a:t>Some Potential Themes:</a:t>
            </a:r>
            <a:endParaRPr b="0" i="0" sz="1800" u="none" cap="none" strike="noStrike">
              <a:solidFill>
                <a:srgbClr val="3D85C6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3D85C6"/>
                </a:solidFill>
                <a:latin typeface="Roboto Slab Light"/>
                <a:ea typeface="Roboto Slab Light"/>
                <a:cs typeface="Roboto Slab Light"/>
                <a:sym typeface="Roboto Slab Light"/>
              </a:rPr>
              <a:t>Color in Interactive Cartography;</a:t>
            </a:r>
            <a:br>
              <a:rPr b="0" i="0" lang="en" sz="1800" u="none" cap="none" strike="noStrike">
                <a:solidFill>
                  <a:srgbClr val="3D85C6"/>
                </a:solidFill>
                <a:latin typeface="Roboto Slab Light"/>
                <a:ea typeface="Roboto Slab Light"/>
                <a:cs typeface="Roboto Slab Light"/>
                <a:sym typeface="Roboto Slab Light"/>
              </a:rPr>
            </a:br>
            <a:r>
              <a:rPr b="0" i="0" lang="en" sz="1800" u="none" cap="none" strike="noStrike">
                <a:solidFill>
                  <a:srgbClr val="3D85C6"/>
                </a:solidFill>
                <a:latin typeface="Roboto Slab Light"/>
                <a:ea typeface="Roboto Slab Light"/>
                <a:cs typeface="Roboto Slab Light"/>
                <a:sym typeface="Roboto Slab Light"/>
              </a:rPr>
              <a:t>Cartographic Echo Chambers;</a:t>
            </a:r>
            <a:endParaRPr b="0" i="0" sz="1800" u="none" cap="none" strike="noStrike">
              <a:solidFill>
                <a:srgbClr val="3D85C6"/>
              </a:solidFill>
              <a:latin typeface="Roboto Slab Light"/>
              <a:ea typeface="Roboto Slab Light"/>
              <a:cs typeface="Roboto Slab Light"/>
              <a:sym typeface="Roboto Slab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3D85C6"/>
                </a:solidFill>
                <a:latin typeface="Roboto Slab Light"/>
                <a:ea typeface="Roboto Slab Light"/>
                <a:cs typeface="Roboto Slab Light"/>
                <a:sym typeface="Roboto Slab Light"/>
              </a:rPr>
              <a:t>Critical Cartography;</a:t>
            </a:r>
            <a:br>
              <a:rPr b="0" i="0" lang="en" sz="1800" u="none" cap="none" strike="noStrike">
                <a:solidFill>
                  <a:srgbClr val="3D85C6"/>
                </a:solidFill>
                <a:latin typeface="Roboto Slab Light"/>
                <a:ea typeface="Roboto Slab Light"/>
                <a:cs typeface="Roboto Slab Light"/>
                <a:sym typeface="Roboto Slab Light"/>
              </a:rPr>
            </a:br>
            <a:r>
              <a:rPr b="0" i="0" lang="en" sz="1800" u="none" cap="none" strike="noStrike">
                <a:solidFill>
                  <a:srgbClr val="3D85C6"/>
                </a:solidFill>
                <a:latin typeface="Roboto Slab Light"/>
                <a:ea typeface="Roboto Slab Light"/>
                <a:cs typeface="Roboto Slab Light"/>
                <a:sym typeface="Roboto Slab Light"/>
              </a:rPr>
              <a:t>Maps as Art;</a:t>
            </a:r>
            <a:endParaRPr b="0" i="0" sz="1800" u="none" cap="none" strike="noStrike">
              <a:solidFill>
                <a:srgbClr val="3D85C6"/>
              </a:solidFill>
              <a:latin typeface="Roboto Slab Light"/>
              <a:ea typeface="Roboto Slab Light"/>
              <a:cs typeface="Roboto Slab Light"/>
              <a:sym typeface="Roboto Slab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3D85C6"/>
                </a:solidFill>
                <a:latin typeface="Roboto Slab Light"/>
                <a:ea typeface="Roboto Slab Light"/>
                <a:cs typeface="Roboto Slab Light"/>
                <a:sym typeface="Roboto Slab Light"/>
              </a:rPr>
              <a:t>etc.</a:t>
            </a:r>
            <a:endParaRPr b="0" i="0" sz="1800" u="none" cap="none" strike="noStrike">
              <a:solidFill>
                <a:srgbClr val="3D85C6"/>
              </a:solidFill>
              <a:latin typeface="Roboto Slab Light"/>
              <a:ea typeface="Roboto Slab Light"/>
              <a:cs typeface="Roboto Slab Light"/>
              <a:sym typeface="Roboto Slab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