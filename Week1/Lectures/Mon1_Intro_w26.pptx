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Proxima Nova"/>
      <p:regular r:id="rId21"/>
      <p:bold r:id="rId22"/>
      <p:italic r:id="rId23"/>
      <p:boldItalic r:id="rId24"/>
    </p:embeddedFont>
    <p:embeddedFont>
      <p:font typeface="Alfa Slab One"/>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6" roundtripDataSignature="AMtx7mhc7Xjln6HOp0H2wmz1APBACVHep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im E Thatch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roximaNova-bold.fntdata"/><Relationship Id="rId21" Type="http://schemas.openxmlformats.org/officeDocument/2006/relationships/font" Target="fonts/ProximaNova-regular.fntdata"/><Relationship Id="rId24" Type="http://schemas.openxmlformats.org/officeDocument/2006/relationships/font" Target="fonts/ProximaNova-boldItalic.fntdata"/><Relationship Id="rId23" Type="http://schemas.openxmlformats.org/officeDocument/2006/relationships/font" Target="fonts/ProximaNov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AlfaSlabOn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30T20:18:55.987">
    <p:pos x="196" y="725"/>
    <p:text>@afrozen@oregonstate.edu
_Assigned to Nazia Afroze_</p:text>
    <p:extLst>
      <p:ext uri="{C676402C-5697-4E1C-873F-D02D1690AC5C}">
        <p15:threadingInfo timeZoneBias="0"/>
      </p:ext>
      <p:ext uri="http://customooxmlschemas.google.com/">
        <go:slidesCustomData xmlns:go="http://customooxmlschemas.google.com/" commentPostId="AAAByKNvjC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16"/>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16"/>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2" name="Google Shape;12;p16"/>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 name="Google Shape;16;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8" name="Shape 18"/>
        <p:cNvGrpSpPr/>
        <p:nvPr/>
      </p:nvGrpSpPr>
      <p:grpSpPr>
        <a:xfrm>
          <a:off x="0" y="0"/>
          <a:ext cx="0" cy="0"/>
          <a:chOff x="0" y="0"/>
          <a:chExt cx="0" cy="0"/>
        </a:xfrm>
      </p:grpSpPr>
      <p:sp>
        <p:nvSpPr>
          <p:cNvPr id="19" name="Google Shape;19;p18"/>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20" name="Google Shape;2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sp>
        <p:nvSpPr>
          <p:cNvPr id="22" name="Google Shape;22;p19"/>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6800"/>
              <a:buNone/>
              <a:defRPr sz="6800">
                <a:solidFill>
                  <a:schemeClr val="lt1"/>
                </a:solidFill>
              </a:defRPr>
            </a:lvl1pPr>
            <a:lvl2pPr lvl="1" algn="l">
              <a:lnSpc>
                <a:spcPct val="100000"/>
              </a:lnSpc>
              <a:spcBef>
                <a:spcPts val="0"/>
              </a:spcBef>
              <a:spcAft>
                <a:spcPts val="0"/>
              </a:spcAft>
              <a:buClr>
                <a:schemeClr val="lt1"/>
              </a:buClr>
              <a:buSzPts val="6800"/>
              <a:buNone/>
              <a:defRPr sz="6800">
                <a:solidFill>
                  <a:schemeClr val="lt1"/>
                </a:solidFill>
              </a:defRPr>
            </a:lvl2pPr>
            <a:lvl3pPr lvl="2" algn="l">
              <a:lnSpc>
                <a:spcPct val="100000"/>
              </a:lnSpc>
              <a:spcBef>
                <a:spcPts val="0"/>
              </a:spcBef>
              <a:spcAft>
                <a:spcPts val="0"/>
              </a:spcAft>
              <a:buClr>
                <a:schemeClr val="lt1"/>
              </a:buClr>
              <a:buSzPts val="6800"/>
              <a:buNone/>
              <a:defRPr sz="6800">
                <a:solidFill>
                  <a:schemeClr val="lt1"/>
                </a:solidFill>
              </a:defRPr>
            </a:lvl3pPr>
            <a:lvl4pPr lvl="3" algn="l">
              <a:lnSpc>
                <a:spcPct val="100000"/>
              </a:lnSpc>
              <a:spcBef>
                <a:spcPts val="0"/>
              </a:spcBef>
              <a:spcAft>
                <a:spcPts val="0"/>
              </a:spcAft>
              <a:buClr>
                <a:schemeClr val="lt1"/>
              </a:buClr>
              <a:buSzPts val="6800"/>
              <a:buNone/>
              <a:defRPr sz="6800">
                <a:solidFill>
                  <a:schemeClr val="lt1"/>
                </a:solidFill>
              </a:defRPr>
            </a:lvl4pPr>
            <a:lvl5pPr lvl="4" algn="l">
              <a:lnSpc>
                <a:spcPct val="100000"/>
              </a:lnSpc>
              <a:spcBef>
                <a:spcPts val="0"/>
              </a:spcBef>
              <a:spcAft>
                <a:spcPts val="0"/>
              </a:spcAft>
              <a:buClr>
                <a:schemeClr val="lt1"/>
              </a:buClr>
              <a:buSzPts val="6800"/>
              <a:buNone/>
              <a:defRPr sz="6800">
                <a:solidFill>
                  <a:schemeClr val="lt1"/>
                </a:solidFill>
              </a:defRPr>
            </a:lvl5pPr>
            <a:lvl6pPr lvl="5" algn="l">
              <a:lnSpc>
                <a:spcPct val="100000"/>
              </a:lnSpc>
              <a:spcBef>
                <a:spcPts val="0"/>
              </a:spcBef>
              <a:spcAft>
                <a:spcPts val="0"/>
              </a:spcAft>
              <a:buClr>
                <a:schemeClr val="lt1"/>
              </a:buClr>
              <a:buSzPts val="6800"/>
              <a:buNone/>
              <a:defRPr sz="6800">
                <a:solidFill>
                  <a:schemeClr val="lt1"/>
                </a:solidFill>
              </a:defRPr>
            </a:lvl6pPr>
            <a:lvl7pPr lvl="6" algn="l">
              <a:lnSpc>
                <a:spcPct val="100000"/>
              </a:lnSpc>
              <a:spcBef>
                <a:spcPts val="0"/>
              </a:spcBef>
              <a:spcAft>
                <a:spcPts val="0"/>
              </a:spcAft>
              <a:buClr>
                <a:schemeClr val="lt1"/>
              </a:buClr>
              <a:buSzPts val="6800"/>
              <a:buNone/>
              <a:defRPr sz="6800">
                <a:solidFill>
                  <a:schemeClr val="lt1"/>
                </a:solidFill>
              </a:defRPr>
            </a:lvl7pPr>
            <a:lvl8pPr lvl="7" algn="l">
              <a:lnSpc>
                <a:spcPct val="100000"/>
              </a:lnSpc>
              <a:spcBef>
                <a:spcPts val="0"/>
              </a:spcBef>
              <a:spcAft>
                <a:spcPts val="0"/>
              </a:spcAft>
              <a:buClr>
                <a:schemeClr val="lt1"/>
              </a:buClr>
              <a:buSzPts val="6800"/>
              <a:buNone/>
              <a:defRPr sz="6800">
                <a:solidFill>
                  <a:schemeClr val="lt1"/>
                </a:solidFill>
              </a:defRPr>
            </a:lvl8pPr>
            <a:lvl9pPr lvl="8" algn="l">
              <a:lnSpc>
                <a:spcPct val="100000"/>
              </a:lnSpc>
              <a:spcBef>
                <a:spcPts val="0"/>
              </a:spcBef>
              <a:spcAft>
                <a:spcPts val="0"/>
              </a:spcAft>
              <a:buClr>
                <a:schemeClr val="lt1"/>
              </a:buClr>
              <a:buSzPts val="6800"/>
              <a:buNone/>
              <a:defRPr sz="6800">
                <a:solidFill>
                  <a:schemeClr val="lt1"/>
                </a:solidFill>
              </a:defRPr>
            </a:lvl9pPr>
          </a:lstStyle>
          <a:p/>
        </p:txBody>
      </p:sp>
      <p:sp>
        <p:nvSpPr>
          <p:cNvPr id="23" name="Google Shape;2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2"/>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2"/>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23"/>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2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23"/>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0" name="Google Shape;40;p23"/>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2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2" name="Google Shape;4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4"/>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5"/>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1000"/>
              <a:buNone/>
              <a:defRPr sz="11000">
                <a:solidFill>
                  <a:schemeClr val="dk1"/>
                </a:solidFill>
              </a:defRPr>
            </a:lvl1pPr>
            <a:lvl2pPr lvl="1" algn="ctr">
              <a:lnSpc>
                <a:spcPct val="100000"/>
              </a:lnSpc>
              <a:spcBef>
                <a:spcPts val="0"/>
              </a:spcBef>
              <a:spcAft>
                <a:spcPts val="0"/>
              </a:spcAft>
              <a:buClr>
                <a:schemeClr val="dk1"/>
              </a:buClr>
              <a:buSzPts val="11000"/>
              <a:buNone/>
              <a:defRPr sz="11000">
                <a:solidFill>
                  <a:schemeClr val="dk1"/>
                </a:solidFill>
              </a:defRPr>
            </a:lvl2pPr>
            <a:lvl3pPr lvl="2" algn="ctr">
              <a:lnSpc>
                <a:spcPct val="100000"/>
              </a:lnSpc>
              <a:spcBef>
                <a:spcPts val="0"/>
              </a:spcBef>
              <a:spcAft>
                <a:spcPts val="0"/>
              </a:spcAft>
              <a:buClr>
                <a:schemeClr val="dk1"/>
              </a:buClr>
              <a:buSzPts val="11000"/>
              <a:buNone/>
              <a:defRPr sz="11000">
                <a:solidFill>
                  <a:schemeClr val="dk1"/>
                </a:solidFill>
              </a:defRPr>
            </a:lvl3pPr>
            <a:lvl4pPr lvl="3" algn="ctr">
              <a:lnSpc>
                <a:spcPct val="100000"/>
              </a:lnSpc>
              <a:spcBef>
                <a:spcPts val="0"/>
              </a:spcBef>
              <a:spcAft>
                <a:spcPts val="0"/>
              </a:spcAft>
              <a:buClr>
                <a:schemeClr val="dk1"/>
              </a:buClr>
              <a:buSzPts val="11000"/>
              <a:buNone/>
              <a:defRPr sz="11000">
                <a:solidFill>
                  <a:schemeClr val="dk1"/>
                </a:solidFill>
              </a:defRPr>
            </a:lvl4pPr>
            <a:lvl5pPr lvl="4" algn="ctr">
              <a:lnSpc>
                <a:spcPct val="100000"/>
              </a:lnSpc>
              <a:spcBef>
                <a:spcPts val="0"/>
              </a:spcBef>
              <a:spcAft>
                <a:spcPts val="0"/>
              </a:spcAft>
              <a:buClr>
                <a:schemeClr val="dk1"/>
              </a:buClr>
              <a:buSzPts val="11000"/>
              <a:buNone/>
              <a:defRPr sz="11000">
                <a:solidFill>
                  <a:schemeClr val="dk1"/>
                </a:solidFill>
              </a:defRPr>
            </a:lvl5pPr>
            <a:lvl6pPr lvl="5" algn="ctr">
              <a:lnSpc>
                <a:spcPct val="100000"/>
              </a:lnSpc>
              <a:spcBef>
                <a:spcPts val="0"/>
              </a:spcBef>
              <a:spcAft>
                <a:spcPts val="0"/>
              </a:spcAft>
              <a:buClr>
                <a:schemeClr val="dk1"/>
              </a:buClr>
              <a:buSzPts val="11000"/>
              <a:buNone/>
              <a:defRPr sz="11000">
                <a:solidFill>
                  <a:schemeClr val="dk1"/>
                </a:solidFill>
              </a:defRPr>
            </a:lvl6pPr>
            <a:lvl7pPr lvl="6" algn="ctr">
              <a:lnSpc>
                <a:spcPct val="100000"/>
              </a:lnSpc>
              <a:spcBef>
                <a:spcPts val="0"/>
              </a:spcBef>
              <a:spcAft>
                <a:spcPts val="0"/>
              </a:spcAft>
              <a:buClr>
                <a:schemeClr val="dk1"/>
              </a:buClr>
              <a:buSzPts val="11000"/>
              <a:buNone/>
              <a:defRPr sz="11000">
                <a:solidFill>
                  <a:schemeClr val="dk1"/>
                </a:solidFill>
              </a:defRPr>
            </a:lvl7pPr>
            <a:lvl8pPr lvl="7" algn="ctr">
              <a:lnSpc>
                <a:spcPct val="100000"/>
              </a:lnSpc>
              <a:spcBef>
                <a:spcPts val="0"/>
              </a:spcBef>
              <a:spcAft>
                <a:spcPts val="0"/>
              </a:spcAft>
              <a:buClr>
                <a:schemeClr val="dk1"/>
              </a:buClr>
              <a:buSzPts val="11000"/>
              <a:buNone/>
              <a:defRPr sz="11000">
                <a:solidFill>
                  <a:schemeClr val="dk1"/>
                </a:solidFill>
              </a:defRPr>
            </a:lvl8pPr>
            <a:lvl9pPr lvl="8"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48" name="Google Shape;48;p25"/>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hyperlink" Target="mailto:afrozen@oregonstate.ed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canvas.oregonstate.edu/courses/2029057/files" TargetMode="External"/><Relationship Id="rId4" Type="http://schemas.openxmlformats.org/officeDocument/2006/relationships/hyperlink" Target="https://github.com/OSUCart/InteractiveCar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github.com/OSUCart/InteractiveCar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5" name="Shape 55"/>
        <p:cNvGrpSpPr/>
        <p:nvPr/>
      </p:nvGrpSpPr>
      <p:grpSpPr>
        <a:xfrm>
          <a:off x="0" y="0"/>
          <a:ext cx="0" cy="0"/>
          <a:chOff x="0" y="0"/>
          <a:chExt cx="0" cy="0"/>
        </a:xfrm>
      </p:grpSpPr>
      <p:sp>
        <p:nvSpPr>
          <p:cNvPr id="56" name="Google Shape;56;p1"/>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a:t>Course Introduction</a:t>
            </a:r>
            <a:endParaRPr/>
          </a:p>
        </p:txBody>
      </p:sp>
      <p:sp>
        <p:nvSpPr>
          <p:cNvPr id="57" name="Google Shape;57;p1"/>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
              <a:t>Geography 4/572, Winter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Today</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Introduction to Instructor and Teaching Assistant</a:t>
            </a:r>
            <a:endParaRPr/>
          </a:p>
          <a:p>
            <a:pPr indent="-342900" lvl="0" marL="457200" rtl="0" algn="l">
              <a:lnSpc>
                <a:spcPct val="115000"/>
              </a:lnSpc>
              <a:spcBef>
                <a:spcPts val="0"/>
              </a:spcBef>
              <a:spcAft>
                <a:spcPts val="0"/>
              </a:spcAft>
              <a:buSzPts val="1800"/>
              <a:buChar char="●"/>
            </a:pPr>
            <a:r>
              <a:rPr lang="en"/>
              <a:t>Review of syllabus</a:t>
            </a:r>
            <a:endParaRPr/>
          </a:p>
          <a:p>
            <a:pPr indent="-317500" lvl="1" marL="914400" rtl="0" algn="l">
              <a:lnSpc>
                <a:spcPct val="115000"/>
              </a:lnSpc>
              <a:spcBef>
                <a:spcPts val="0"/>
              </a:spcBef>
              <a:spcAft>
                <a:spcPts val="0"/>
              </a:spcAft>
              <a:buSzPts val="1400"/>
              <a:buChar char="○"/>
            </a:pPr>
            <a:r>
              <a:rPr lang="en"/>
              <a:t>Course description and learning outcomes</a:t>
            </a:r>
            <a:endParaRPr/>
          </a:p>
          <a:p>
            <a:pPr indent="-317500" lvl="1" marL="914400" rtl="0" algn="l">
              <a:lnSpc>
                <a:spcPct val="115000"/>
              </a:lnSpc>
              <a:spcBef>
                <a:spcPts val="0"/>
              </a:spcBef>
              <a:spcAft>
                <a:spcPts val="0"/>
              </a:spcAft>
              <a:buSzPts val="1400"/>
              <a:buChar char="○"/>
            </a:pPr>
            <a:r>
              <a:rPr lang="en"/>
              <a:t>Readings and technology</a:t>
            </a:r>
            <a:endParaRPr/>
          </a:p>
          <a:p>
            <a:pPr indent="-317500" lvl="1" marL="914400" rtl="0" algn="l">
              <a:lnSpc>
                <a:spcPct val="115000"/>
              </a:lnSpc>
              <a:spcBef>
                <a:spcPts val="0"/>
              </a:spcBef>
              <a:spcAft>
                <a:spcPts val="0"/>
              </a:spcAft>
              <a:buSzPts val="1400"/>
              <a:buChar char="○"/>
            </a:pPr>
            <a:r>
              <a:rPr lang="en"/>
              <a:t>Schedule</a:t>
            </a:r>
            <a:endParaRPr/>
          </a:p>
          <a:p>
            <a:pPr indent="-317500" lvl="1" marL="914400" rtl="0" algn="l">
              <a:lnSpc>
                <a:spcPct val="115000"/>
              </a:lnSpc>
              <a:spcBef>
                <a:spcPts val="0"/>
              </a:spcBef>
              <a:spcAft>
                <a:spcPts val="0"/>
              </a:spcAft>
              <a:buSzPts val="1400"/>
              <a:buChar char="○"/>
            </a:pPr>
            <a:r>
              <a:rPr lang="en"/>
              <a:t>Assignments and evaluation</a:t>
            </a:r>
            <a:endParaRPr/>
          </a:p>
          <a:p>
            <a:pPr indent="-342900" lvl="0" marL="457200" rtl="0" algn="l">
              <a:lnSpc>
                <a:spcPct val="115000"/>
              </a:lnSpc>
              <a:spcBef>
                <a:spcPts val="0"/>
              </a:spcBef>
              <a:spcAft>
                <a:spcPts val="0"/>
              </a:spcAft>
              <a:buSzPts val="1800"/>
              <a:buChar char="●"/>
            </a:pPr>
            <a:r>
              <a:rPr lang="en"/>
              <a:t>Questions?</a:t>
            </a:r>
            <a:endParaRPr/>
          </a:p>
          <a:p>
            <a:pPr indent="-342900" lvl="0" marL="457200" rtl="0" algn="l">
              <a:lnSpc>
                <a:spcPct val="115000"/>
              </a:lnSpc>
              <a:spcBef>
                <a:spcPts val="0"/>
              </a:spcBef>
              <a:spcAft>
                <a:spcPts val="0"/>
              </a:spcAft>
              <a:buSzPts val="1800"/>
              <a:buChar char="●"/>
            </a:pPr>
            <a:r>
              <a:rPr lang="en"/>
              <a:t>Discussion - why study web mapping? Why study cartography at all???</a:t>
            </a:r>
            <a:endParaRPr/>
          </a:p>
          <a:p>
            <a:pPr indent="-342900" lvl="0" marL="457200" rtl="0" algn="l">
              <a:lnSpc>
                <a:spcPct val="115000"/>
              </a:lnSpc>
              <a:spcBef>
                <a:spcPts val="0"/>
              </a:spcBef>
              <a:spcAft>
                <a:spcPts val="0"/>
              </a:spcAft>
              <a:buSzPts val="1800"/>
              <a:buChar char="●"/>
            </a:pPr>
            <a:r>
              <a:rPr lang="en"/>
              <a:t>Class Survey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Your instructor (me!)</a:t>
            </a:r>
            <a:endParaRPr/>
          </a:p>
        </p:txBody>
      </p:sp>
      <p:sp>
        <p:nvSpPr>
          <p:cNvPr id="69" name="Google Shape;69;p3"/>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PhD, Clark University, 2014</a:t>
            </a:r>
            <a:endParaRPr/>
          </a:p>
          <a:p>
            <a:pPr indent="-342900" lvl="0" marL="457200" rtl="0" algn="l">
              <a:lnSpc>
                <a:spcPct val="115000"/>
              </a:lnSpc>
              <a:spcBef>
                <a:spcPts val="0"/>
              </a:spcBef>
              <a:spcAft>
                <a:spcPts val="0"/>
              </a:spcAft>
              <a:buSzPts val="1800"/>
              <a:buChar char="●"/>
            </a:pPr>
            <a:r>
              <a:rPr lang="en"/>
              <a:t>Editor, </a:t>
            </a:r>
            <a:r>
              <a:rPr i="1" lang="en"/>
              <a:t>Cartographic Perspectives</a:t>
            </a:r>
            <a:endParaRPr/>
          </a:p>
          <a:p>
            <a:pPr indent="-342900" lvl="0" marL="457200" rtl="0" algn="l">
              <a:lnSpc>
                <a:spcPct val="115000"/>
              </a:lnSpc>
              <a:spcBef>
                <a:spcPts val="0"/>
              </a:spcBef>
              <a:spcAft>
                <a:spcPts val="0"/>
              </a:spcAft>
              <a:buSzPts val="1800"/>
              <a:buChar char="●"/>
            </a:pPr>
            <a:r>
              <a:rPr lang="en"/>
              <a:t>Professor at University of Washington Tacoma</a:t>
            </a:r>
            <a:endParaRPr/>
          </a:p>
          <a:p>
            <a:pPr indent="-317500" lvl="1" marL="914400" rtl="0" algn="l">
              <a:lnSpc>
                <a:spcPct val="115000"/>
              </a:lnSpc>
              <a:spcBef>
                <a:spcPts val="0"/>
              </a:spcBef>
              <a:spcAft>
                <a:spcPts val="0"/>
              </a:spcAft>
              <a:buSzPts val="1400"/>
              <a:buChar char="○"/>
            </a:pPr>
            <a:r>
              <a:rPr lang="en"/>
              <a:t>2014-2023</a:t>
            </a:r>
            <a:endParaRPr/>
          </a:p>
          <a:p>
            <a:pPr indent="0" lvl="0" marL="0" rtl="0" algn="l">
              <a:lnSpc>
                <a:spcPct val="115000"/>
              </a:lnSpc>
              <a:spcBef>
                <a:spcPts val="1200"/>
              </a:spcBef>
              <a:spcAft>
                <a:spcPts val="0"/>
              </a:spcAft>
              <a:buSzPts val="1800"/>
              <a:buNone/>
            </a:pPr>
            <a:r>
              <a:rPr b="1" lang="en"/>
              <a:t>Research:</a:t>
            </a:r>
            <a:endParaRPr b="1"/>
          </a:p>
          <a:p>
            <a:pPr indent="-342900" lvl="0" marL="457200" rtl="0" algn="l">
              <a:lnSpc>
                <a:spcPct val="115000"/>
              </a:lnSpc>
              <a:spcBef>
                <a:spcPts val="1200"/>
              </a:spcBef>
              <a:spcAft>
                <a:spcPts val="0"/>
              </a:spcAft>
              <a:buSzPts val="1800"/>
              <a:buChar char="●"/>
            </a:pPr>
            <a:r>
              <a:rPr lang="en"/>
              <a:t>Intersection of environment, society, and computation</a:t>
            </a:r>
            <a:endParaRPr/>
          </a:p>
          <a:p>
            <a:pPr indent="-317500" lvl="1" marL="914400" rtl="0" algn="l">
              <a:lnSpc>
                <a:spcPct val="115000"/>
              </a:lnSpc>
              <a:spcBef>
                <a:spcPts val="0"/>
              </a:spcBef>
              <a:spcAft>
                <a:spcPts val="0"/>
              </a:spcAft>
              <a:buSzPts val="1400"/>
              <a:buChar char="○"/>
            </a:pPr>
            <a:r>
              <a:rPr lang="en"/>
              <a:t>Critical Data Studies, Digital Political Ecology</a:t>
            </a:r>
            <a:endParaRPr/>
          </a:p>
          <a:p>
            <a:pPr indent="-317500" lvl="1" marL="914400" rtl="0" algn="l">
              <a:lnSpc>
                <a:spcPct val="115000"/>
              </a:lnSpc>
              <a:spcBef>
                <a:spcPts val="0"/>
              </a:spcBef>
              <a:spcAft>
                <a:spcPts val="0"/>
              </a:spcAft>
              <a:buSzPts val="1400"/>
              <a:buChar char="○"/>
            </a:pPr>
            <a:r>
              <a:rPr lang="en"/>
              <a:t>Computational Cartography</a:t>
            </a:r>
            <a:endParaRPr/>
          </a:p>
          <a:p>
            <a:pPr indent="-317500" lvl="1" marL="914400" rtl="0" algn="l">
              <a:lnSpc>
                <a:spcPct val="115000"/>
              </a:lnSpc>
              <a:spcBef>
                <a:spcPts val="0"/>
              </a:spcBef>
              <a:spcAft>
                <a:spcPts val="0"/>
              </a:spcAft>
              <a:buSzPts val="1400"/>
              <a:buChar char="○"/>
            </a:pPr>
            <a:r>
              <a:rPr lang="en"/>
              <a:t>Board games (??)</a:t>
            </a:r>
            <a:endParaRPr/>
          </a:p>
        </p:txBody>
      </p:sp>
      <p:pic>
        <p:nvPicPr>
          <p:cNvPr id="70" name="Google Shape;70;p3"/>
          <p:cNvPicPr preferRelativeResize="0"/>
          <p:nvPr/>
        </p:nvPicPr>
        <p:blipFill rotWithShape="1">
          <a:blip r:embed="rId3">
            <a:alphaModFix/>
          </a:blip>
          <a:srcRect b="0" l="0" r="0" t="0"/>
          <a:stretch/>
        </p:blipFill>
        <p:spPr>
          <a:xfrm>
            <a:off x="5942475" y="510300"/>
            <a:ext cx="1651800" cy="2061450"/>
          </a:xfrm>
          <a:prstGeom prst="rect">
            <a:avLst/>
          </a:prstGeom>
          <a:noFill/>
          <a:ln>
            <a:noFill/>
          </a:ln>
        </p:spPr>
      </p:pic>
      <p:pic>
        <p:nvPicPr>
          <p:cNvPr id="71" name="Google Shape;71;p3"/>
          <p:cNvPicPr preferRelativeResize="0"/>
          <p:nvPr/>
        </p:nvPicPr>
        <p:blipFill rotWithShape="1">
          <a:blip r:embed="rId4">
            <a:alphaModFix/>
          </a:blip>
          <a:srcRect b="0" l="0" r="0" t="0"/>
          <a:stretch/>
        </p:blipFill>
        <p:spPr>
          <a:xfrm>
            <a:off x="1715302" y="2571749"/>
            <a:ext cx="1453101" cy="2313326"/>
          </a:xfrm>
          <a:prstGeom prst="rect">
            <a:avLst/>
          </a:prstGeom>
          <a:noFill/>
          <a:ln>
            <a:noFill/>
          </a:ln>
        </p:spPr>
      </p:pic>
      <p:sp>
        <p:nvSpPr>
          <p:cNvPr id="72" name="Google Shape;72;p3"/>
          <p:cNvSpPr txBox="1"/>
          <p:nvPr/>
        </p:nvSpPr>
        <p:spPr>
          <a:xfrm>
            <a:off x="4977075" y="2631775"/>
            <a:ext cx="3582600" cy="1571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chemeClr val="dk2"/>
                </a:solidFill>
                <a:latin typeface="Proxima Nova"/>
                <a:ea typeface="Proxima Nova"/>
                <a:cs typeface="Proxima Nova"/>
                <a:sym typeface="Proxima Nova"/>
              </a:rPr>
              <a:t>Teaching:</a:t>
            </a:r>
            <a:endParaRPr b="1" i="0" sz="18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1200"/>
              </a:spcBef>
              <a:spcAft>
                <a:spcPts val="0"/>
              </a:spcAft>
              <a:buClr>
                <a:schemeClr val="dk2"/>
              </a:buClr>
              <a:buSzPts val="1800"/>
              <a:buFont typeface="Proxima Nova"/>
              <a:buChar char="●"/>
            </a:pPr>
            <a:r>
              <a:rPr b="0" i="0" lang="en" sz="1800" u="none" cap="none" strike="noStrike">
                <a:solidFill>
                  <a:schemeClr val="dk2"/>
                </a:solidFill>
                <a:latin typeface="Proxima Nova"/>
                <a:ea typeface="Proxima Nova"/>
                <a:cs typeface="Proxima Nova"/>
                <a:sym typeface="Proxima Nova"/>
              </a:rPr>
              <a:t>Interactive Cartography</a:t>
            </a:r>
            <a:endParaRPr b="0" i="0" sz="18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800" u="none" cap="none" strike="noStrike">
                <a:solidFill>
                  <a:schemeClr val="dk2"/>
                </a:solidFill>
                <a:latin typeface="Proxima Nova"/>
                <a:ea typeface="Proxima Nova"/>
                <a:cs typeface="Proxima Nova"/>
                <a:sym typeface="Proxima Nova"/>
              </a:rPr>
              <a:t>Advanced Cartography</a:t>
            </a:r>
            <a:endParaRPr b="0" i="0" sz="18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800" u="none" cap="none" strike="noStrike">
                <a:solidFill>
                  <a:schemeClr val="dk2"/>
                </a:solidFill>
                <a:latin typeface="Proxima Nova"/>
                <a:ea typeface="Proxima Nova"/>
                <a:cs typeface="Proxima Nova"/>
                <a:sym typeface="Proxima Nova"/>
              </a:rPr>
              <a:t>Political Ecology</a:t>
            </a:r>
            <a:endParaRPr b="0" i="0" sz="1800" u="none" cap="none" strike="noStrike">
              <a:solidFill>
                <a:schemeClr val="dk2"/>
              </a:solidFill>
              <a:latin typeface="Proxima Nova"/>
              <a:ea typeface="Proxima Nova"/>
              <a:cs typeface="Proxima Nova"/>
              <a:sym typeface="Proxima Nova"/>
            </a:endParaRPr>
          </a:p>
        </p:txBody>
      </p:sp>
      <p:sp>
        <p:nvSpPr>
          <p:cNvPr id="73" name="Google Shape;73;p3"/>
          <p:cNvSpPr txBox="1"/>
          <p:nvPr/>
        </p:nvSpPr>
        <p:spPr>
          <a:xfrm>
            <a:off x="4074300" y="4146175"/>
            <a:ext cx="4758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Proxima Nova"/>
                <a:ea typeface="Proxima Nova"/>
                <a:cs typeface="Proxima Nova"/>
                <a:sym typeface="Proxima Nova"/>
              </a:rPr>
              <a:t>Office hours: </a:t>
            </a:r>
            <a:r>
              <a:rPr b="1" lang="en" sz="1800">
                <a:solidFill>
                  <a:schemeClr val="dk2"/>
                </a:solidFill>
                <a:latin typeface="Proxima Nova"/>
                <a:ea typeface="Proxima Nova"/>
                <a:cs typeface="Proxima Nova"/>
                <a:sym typeface="Proxima Nova"/>
              </a:rPr>
              <a:t>Wednesdays </a:t>
            </a:r>
            <a:r>
              <a:rPr b="1" i="0" lang="en" sz="1800" u="none" cap="none" strike="noStrike">
                <a:solidFill>
                  <a:schemeClr val="dk2"/>
                </a:solidFill>
                <a:latin typeface="Proxima Nova"/>
                <a:ea typeface="Proxima Nova"/>
                <a:cs typeface="Proxima Nova"/>
                <a:sym typeface="Proxima Nova"/>
              </a:rPr>
              <a:t>11-12:</a:t>
            </a:r>
            <a:r>
              <a:rPr b="1" lang="en" sz="1800">
                <a:solidFill>
                  <a:schemeClr val="dk2"/>
                </a:solidFill>
                <a:latin typeface="Proxima Nova"/>
                <a:ea typeface="Proxima Nova"/>
                <a:cs typeface="Proxima Nova"/>
                <a:sym typeface="Proxima Nova"/>
              </a:rPr>
              <a:t>00</a:t>
            </a:r>
            <a:r>
              <a:rPr b="1" i="0" lang="en" sz="1800" u="none" cap="none" strike="noStrike">
                <a:solidFill>
                  <a:schemeClr val="dk2"/>
                </a:solidFill>
                <a:latin typeface="Proxima Nova"/>
                <a:ea typeface="Proxima Nova"/>
                <a:cs typeface="Proxima Nova"/>
                <a:sym typeface="Proxima Nova"/>
              </a:rPr>
              <a:t>pm and by appointment!</a:t>
            </a:r>
            <a:endParaRPr b="1" i="0" sz="1800" u="none" cap="none" strike="noStrike">
              <a:solidFill>
                <a:schemeClr val="dk2"/>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7" name="Shape 77"/>
        <p:cNvGrpSpPr/>
        <p:nvPr/>
      </p:nvGrpSpPr>
      <p:grpSpPr>
        <a:xfrm>
          <a:off x="0" y="0"/>
          <a:ext cx="0" cy="0"/>
          <a:chOff x="0" y="0"/>
          <a:chExt cx="0" cy="0"/>
        </a:xfrm>
      </p:grpSpPr>
      <p:sp>
        <p:nvSpPr>
          <p:cNvPr id="78" name="Google Shape;78;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Your Teaching Assistant</a:t>
            </a:r>
            <a:endParaRPr/>
          </a:p>
        </p:txBody>
      </p:sp>
      <p:sp>
        <p:nvSpPr>
          <p:cNvPr id="79" name="Google Shape;79;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74650" lvl="0" marL="457200" rtl="0" algn="l">
              <a:lnSpc>
                <a:spcPct val="115000"/>
              </a:lnSpc>
              <a:spcBef>
                <a:spcPts val="0"/>
              </a:spcBef>
              <a:spcAft>
                <a:spcPts val="0"/>
              </a:spcAft>
              <a:buSzPts val="2300"/>
              <a:buChar char="●"/>
            </a:pPr>
            <a:r>
              <a:rPr lang="en" sz="2300"/>
              <a:t>Nazia Afroze </a:t>
            </a:r>
            <a:endParaRPr sz="2300"/>
          </a:p>
          <a:p>
            <a:pPr indent="-374650" lvl="0" marL="457200" rtl="0" algn="l">
              <a:lnSpc>
                <a:spcPct val="115000"/>
              </a:lnSpc>
              <a:spcBef>
                <a:spcPts val="0"/>
              </a:spcBef>
              <a:spcAft>
                <a:spcPts val="0"/>
              </a:spcAft>
              <a:buSzPts val="2300"/>
              <a:buChar char="●"/>
            </a:pPr>
            <a:r>
              <a:rPr lang="en" sz="2300" u="sng">
                <a:solidFill>
                  <a:schemeClr val="hlink"/>
                </a:solidFill>
                <a:hlinkClick r:id="rId4"/>
              </a:rPr>
              <a:t>afrozen@oregonstate.edu</a:t>
            </a:r>
            <a:endParaRPr sz="2300"/>
          </a:p>
          <a:p>
            <a:pPr indent="-374650" lvl="0" marL="457200" rtl="0" algn="l">
              <a:lnSpc>
                <a:spcPct val="115000"/>
              </a:lnSpc>
              <a:spcBef>
                <a:spcPts val="0"/>
              </a:spcBef>
              <a:spcAft>
                <a:spcPts val="0"/>
              </a:spcAft>
              <a:buSzPts val="2300"/>
              <a:buChar char="●"/>
            </a:pPr>
            <a:r>
              <a:rPr lang="en" sz="2300"/>
              <a:t>Office hours: </a:t>
            </a:r>
            <a:r>
              <a:rPr lang="en" sz="2300">
                <a:extLst>
                  <a:ext uri="http://customooxmlschemas.google.com/">
                    <go:slidesCustomData xmlns:go="http://customooxmlschemas.google.com/" textRoundtripDataId="0"/>
                  </a:ext>
                </a:extLst>
              </a:rPr>
              <a:t>Thursdays, 3-4pm</a:t>
            </a:r>
            <a:r>
              <a:rPr lang="en" sz="2300"/>
              <a:t>, and by appointment</a:t>
            </a:r>
            <a:endParaRPr sz="2300"/>
          </a:p>
          <a:p>
            <a:pPr indent="-374650" lvl="0" marL="457200" rtl="0" algn="l">
              <a:lnSpc>
                <a:spcPct val="115000"/>
              </a:lnSpc>
              <a:spcBef>
                <a:spcPts val="0"/>
              </a:spcBef>
              <a:spcAft>
                <a:spcPts val="0"/>
              </a:spcAft>
              <a:buSzPts val="2300"/>
              <a:buChar char="●"/>
            </a:pPr>
            <a:r>
              <a:rPr lang="en" sz="2300"/>
              <a:t>(I will let her introduce herself to you)!</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3" name="Shape 83"/>
        <p:cNvGrpSpPr/>
        <p:nvPr/>
      </p:nvGrpSpPr>
      <p:grpSpPr>
        <a:xfrm>
          <a:off x="0" y="0"/>
          <a:ext cx="0" cy="0"/>
          <a:chOff x="0" y="0"/>
          <a:chExt cx="0" cy="0"/>
        </a:xfrm>
      </p:grpSpPr>
      <p:sp>
        <p:nvSpPr>
          <p:cNvPr id="84" name="Google Shape;84;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Syllabus Review</a:t>
            </a:r>
            <a:endParaRPr/>
          </a:p>
        </p:txBody>
      </p:sp>
      <p:sp>
        <p:nvSpPr>
          <p:cNvPr id="85" name="Google Shape;85;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412750" lvl="0" marL="457200" rtl="0" algn="l">
              <a:lnSpc>
                <a:spcPct val="115000"/>
              </a:lnSpc>
              <a:spcBef>
                <a:spcPts val="0"/>
              </a:spcBef>
              <a:spcAft>
                <a:spcPts val="0"/>
              </a:spcAft>
              <a:buSzPts val="2900"/>
              <a:buChar char="●"/>
            </a:pPr>
            <a:r>
              <a:rPr lang="en" sz="2900"/>
              <a:t>Where is it?</a:t>
            </a:r>
            <a:endParaRPr sz="2900"/>
          </a:p>
          <a:p>
            <a:pPr indent="-387350" lvl="1" marL="914400" rtl="0" algn="l">
              <a:lnSpc>
                <a:spcPct val="115000"/>
              </a:lnSpc>
              <a:spcBef>
                <a:spcPts val="0"/>
              </a:spcBef>
              <a:spcAft>
                <a:spcPts val="0"/>
              </a:spcAft>
              <a:buSzPts val="2500"/>
              <a:buChar char="○"/>
            </a:pPr>
            <a:r>
              <a:rPr lang="en" sz="2500"/>
              <a:t>On the Canvas site, in the files section, </a:t>
            </a:r>
            <a:r>
              <a:rPr lang="en" sz="2500" u="sng">
                <a:solidFill>
                  <a:schemeClr val="hlink"/>
                </a:solidFill>
                <a:hlinkClick r:id="rId3"/>
              </a:rPr>
              <a:t>here</a:t>
            </a:r>
            <a:r>
              <a:rPr lang="en" sz="2500"/>
              <a:t>.</a:t>
            </a:r>
            <a:endParaRPr sz="2500"/>
          </a:p>
          <a:p>
            <a:pPr indent="-387350" lvl="1" marL="914400" rtl="0" algn="l">
              <a:lnSpc>
                <a:spcPct val="115000"/>
              </a:lnSpc>
              <a:spcBef>
                <a:spcPts val="0"/>
              </a:spcBef>
              <a:spcAft>
                <a:spcPts val="0"/>
              </a:spcAft>
              <a:buSzPts val="2500"/>
              <a:buChar char="○"/>
            </a:pPr>
            <a:r>
              <a:rPr lang="en" sz="2500"/>
              <a:t>In the Github repository, </a:t>
            </a:r>
            <a:r>
              <a:rPr lang="en" sz="2500" u="sng">
                <a:solidFill>
                  <a:schemeClr val="hlink"/>
                </a:solidFill>
                <a:hlinkClick r:id="rId4"/>
              </a:rPr>
              <a:t>here</a:t>
            </a:r>
            <a:r>
              <a:rPr lang="en" sz="2500"/>
              <a:t>.</a:t>
            </a:r>
            <a:endParaRPr sz="2500"/>
          </a:p>
          <a:p>
            <a:pPr indent="-330200" lvl="2" marL="1371600" rtl="0" algn="l">
              <a:lnSpc>
                <a:spcPct val="115000"/>
              </a:lnSpc>
              <a:spcBef>
                <a:spcPts val="0"/>
              </a:spcBef>
              <a:spcAft>
                <a:spcPts val="0"/>
              </a:spcAft>
              <a:buSzPts val="1600"/>
              <a:buChar char="■"/>
            </a:pPr>
            <a:r>
              <a:rPr i="1" lang="en" sz="1600"/>
              <a:t>We’ll explain what github is in a moment…</a:t>
            </a:r>
            <a:endParaRPr i="1" sz="1600"/>
          </a:p>
          <a:p>
            <a:pPr indent="-412750" lvl="0" marL="457200" rtl="0" algn="l">
              <a:lnSpc>
                <a:spcPct val="115000"/>
              </a:lnSpc>
              <a:spcBef>
                <a:spcPts val="0"/>
              </a:spcBef>
              <a:spcAft>
                <a:spcPts val="0"/>
              </a:spcAft>
              <a:buSzPts val="2900"/>
              <a:buChar char="●"/>
            </a:pPr>
            <a:r>
              <a:rPr lang="en" sz="2900"/>
              <a:t>What’s on it?</a:t>
            </a:r>
            <a:endParaRPr sz="2900"/>
          </a:p>
          <a:p>
            <a:pPr indent="-387350" lvl="1" marL="914400" rtl="0" algn="l">
              <a:lnSpc>
                <a:spcPct val="115000"/>
              </a:lnSpc>
              <a:spcBef>
                <a:spcPts val="0"/>
              </a:spcBef>
              <a:spcAft>
                <a:spcPts val="0"/>
              </a:spcAft>
              <a:buSzPts val="2500"/>
              <a:buChar char="○"/>
            </a:pPr>
            <a:r>
              <a:rPr lang="en" sz="2500"/>
              <a:t>Let’s look!</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9" name="Shape 89"/>
        <p:cNvGrpSpPr/>
        <p:nvPr/>
      </p:nvGrpSpPr>
      <p:grpSpPr>
        <a:xfrm>
          <a:off x="0" y="0"/>
          <a:ext cx="0" cy="0"/>
          <a:chOff x="0" y="0"/>
          <a:chExt cx="0" cy="0"/>
        </a:xfrm>
      </p:grpSpPr>
      <p:sp>
        <p:nvSpPr>
          <p:cNvPr id="90" name="Google Shape;9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Syllabus Review - Description and Outcomes</a:t>
            </a:r>
            <a:endParaRPr/>
          </a:p>
        </p:txBody>
      </p:sp>
      <p:sp>
        <p:nvSpPr>
          <p:cNvPr id="91" name="Google Shape;9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SzPct val="100000"/>
              <a:buChar char="●"/>
            </a:pPr>
            <a:r>
              <a:rPr lang="en"/>
              <a:t>“Examines concepts, theories, and techniques of web programming, digital storytelling, online project management, and web-based cartographic principles. Explores the history, present, and potential future of online mapping libraries, technologies, and data. Builds foundational concepts for compiling, constructing, and analyzing interactive maps. Creates online, interactive web visualizations using open-source tools.”</a:t>
            </a:r>
            <a:endParaRPr/>
          </a:p>
          <a:p>
            <a:pPr indent="-304165" lvl="1" marL="914400" rtl="0" algn="l">
              <a:lnSpc>
                <a:spcPct val="115000"/>
              </a:lnSpc>
              <a:spcBef>
                <a:spcPts val="0"/>
              </a:spcBef>
              <a:spcAft>
                <a:spcPts val="0"/>
              </a:spcAft>
              <a:buSzPct val="100000"/>
              <a:buChar char="○"/>
            </a:pPr>
            <a:r>
              <a:rPr b="1" lang="en"/>
              <a:t>That’s a mouthful.</a:t>
            </a:r>
            <a:endParaRPr b="1"/>
          </a:p>
          <a:p>
            <a:pPr indent="0" lvl="0" marL="0" rtl="0" algn="l">
              <a:lnSpc>
                <a:spcPct val="115000"/>
              </a:lnSpc>
              <a:spcBef>
                <a:spcPts val="1200"/>
              </a:spcBef>
              <a:spcAft>
                <a:spcPts val="0"/>
              </a:spcAft>
              <a:buSzPct val="117647"/>
              <a:buNone/>
            </a:pPr>
            <a:r>
              <a:t/>
            </a:r>
            <a:endParaRPr/>
          </a:p>
          <a:p>
            <a:pPr indent="-325755" lvl="0" marL="457200" rtl="0" algn="l">
              <a:lnSpc>
                <a:spcPct val="115000"/>
              </a:lnSpc>
              <a:spcBef>
                <a:spcPts val="1200"/>
              </a:spcBef>
              <a:spcAft>
                <a:spcPts val="0"/>
              </a:spcAft>
              <a:buSzPct val="100000"/>
              <a:buChar char="●"/>
            </a:pPr>
            <a:r>
              <a:rPr lang="en"/>
              <a:t>Two major components - lectures and lab exercises</a:t>
            </a:r>
            <a:endParaRPr/>
          </a:p>
          <a:p>
            <a:pPr indent="-304165" lvl="1" marL="914400" rtl="0" algn="l">
              <a:lnSpc>
                <a:spcPct val="115000"/>
              </a:lnSpc>
              <a:spcBef>
                <a:spcPts val="0"/>
              </a:spcBef>
              <a:spcAft>
                <a:spcPts val="0"/>
              </a:spcAft>
              <a:buSzPct val="100000"/>
              <a:buChar char="○"/>
            </a:pPr>
            <a:r>
              <a:rPr lang="en"/>
              <a:t>Lectures - theories, principles, and questions of ‘web mapping’</a:t>
            </a:r>
            <a:endParaRPr/>
          </a:p>
          <a:p>
            <a:pPr indent="-304164" lvl="3" marL="1828800" rtl="0" algn="l">
              <a:lnSpc>
                <a:spcPct val="115000"/>
              </a:lnSpc>
              <a:spcBef>
                <a:spcPts val="0"/>
              </a:spcBef>
              <a:spcAft>
                <a:spcPts val="0"/>
              </a:spcAft>
              <a:buSzPct val="100000"/>
              <a:buChar char="●"/>
            </a:pPr>
            <a:r>
              <a:rPr lang="en"/>
              <a:t>M/W/F - 10-10:50am - Strand 361</a:t>
            </a:r>
            <a:endParaRPr/>
          </a:p>
          <a:p>
            <a:pPr indent="-304164" lvl="3" marL="1828800" rtl="0" algn="l">
              <a:lnSpc>
                <a:spcPct val="115000"/>
              </a:lnSpc>
              <a:spcBef>
                <a:spcPts val="0"/>
              </a:spcBef>
              <a:spcAft>
                <a:spcPts val="0"/>
              </a:spcAft>
              <a:buSzPct val="100000"/>
              <a:buChar char="●"/>
            </a:pPr>
            <a:r>
              <a:rPr lang="en"/>
              <a:t>~⅓ traditional lecture, ~⅓ activities, ~⅓ discussion</a:t>
            </a:r>
            <a:endParaRPr/>
          </a:p>
          <a:p>
            <a:pPr indent="-304165" lvl="1" marL="914400" rtl="0" algn="l">
              <a:lnSpc>
                <a:spcPct val="115000"/>
              </a:lnSpc>
              <a:spcBef>
                <a:spcPts val="0"/>
              </a:spcBef>
              <a:spcAft>
                <a:spcPts val="0"/>
              </a:spcAft>
              <a:buSzPct val="100000"/>
              <a:buChar char="○"/>
            </a:pPr>
            <a:r>
              <a:rPr lang="en"/>
              <a:t>Labs - applying techniques and technologies to create and manipulate interactive maps.</a:t>
            </a:r>
            <a:endParaRPr/>
          </a:p>
          <a:p>
            <a:pPr indent="-304164" lvl="3" marL="1828800" rtl="0" algn="l">
              <a:lnSpc>
                <a:spcPct val="115000"/>
              </a:lnSpc>
              <a:spcBef>
                <a:spcPts val="0"/>
              </a:spcBef>
              <a:spcAft>
                <a:spcPts val="0"/>
              </a:spcAft>
              <a:buSzPct val="100000"/>
              <a:buChar char="●"/>
            </a:pPr>
            <a:r>
              <a:rPr lang="en"/>
              <a:t>M - 2-3:50pm - Strand 361</a:t>
            </a:r>
            <a:endParaRPr/>
          </a:p>
          <a:p>
            <a:pPr indent="-304164" lvl="3" marL="1828800" rtl="0" algn="l">
              <a:lnSpc>
                <a:spcPct val="115000"/>
              </a:lnSpc>
              <a:spcBef>
                <a:spcPts val="0"/>
              </a:spcBef>
              <a:spcAft>
                <a:spcPts val="0"/>
              </a:spcAft>
              <a:buSzPct val="100000"/>
              <a:buChar char="●"/>
            </a:pPr>
            <a:r>
              <a:rPr lang="en"/>
              <a:t>Five labs and two extra credit assignments.</a:t>
            </a:r>
            <a:endParaRPr/>
          </a:p>
        </p:txBody>
      </p:sp>
      <p:sp>
        <p:nvSpPr>
          <p:cNvPr id="92" name="Google Shape;92;p6"/>
          <p:cNvSpPr txBox="1"/>
          <p:nvPr/>
        </p:nvSpPr>
        <p:spPr>
          <a:xfrm>
            <a:off x="1242750" y="4238675"/>
            <a:ext cx="66585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There is also a Final Project which has both a written and technical component, but that will be covered in detail later.</a:t>
            </a:r>
            <a:endParaRPr b="0" i="0" sz="1800" u="none" cap="none" strike="noStrike">
              <a:solidFill>
                <a:schemeClr val="dk2"/>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96" name="Shape 96"/>
        <p:cNvGrpSpPr/>
        <p:nvPr/>
      </p:nvGrpSpPr>
      <p:grpSpPr>
        <a:xfrm>
          <a:off x="0" y="0"/>
          <a:ext cx="0" cy="0"/>
          <a:chOff x="0" y="0"/>
          <a:chExt cx="0" cy="0"/>
        </a:xfrm>
      </p:grpSpPr>
      <p:sp>
        <p:nvSpPr>
          <p:cNvPr id="97" name="Google Shape;9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Syllabus Review - Description and Outcomes</a:t>
            </a:r>
            <a:endParaRPr/>
          </a:p>
        </p:txBody>
      </p:sp>
      <p:sp>
        <p:nvSpPr>
          <p:cNvPr id="98" name="Google Shape;98;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Evaluate the accuracy and appropriateness of various cartographic principles when applied in interactive environments. </a:t>
            </a:r>
            <a:endParaRPr/>
          </a:p>
          <a:p>
            <a:pPr indent="-342900" lvl="0" marL="457200" rtl="0" algn="l">
              <a:lnSpc>
                <a:spcPct val="115000"/>
              </a:lnSpc>
              <a:spcBef>
                <a:spcPts val="0"/>
              </a:spcBef>
              <a:spcAft>
                <a:spcPts val="0"/>
              </a:spcAft>
              <a:buSzPts val="1800"/>
              <a:buChar char="●"/>
            </a:pPr>
            <a:r>
              <a:rPr lang="en"/>
              <a:t>Identify appropriate data formats and programming libraries for use in interactive mapping tasks. </a:t>
            </a:r>
            <a:endParaRPr/>
          </a:p>
          <a:p>
            <a:pPr indent="-342900" lvl="0" marL="457200" rtl="0" algn="l">
              <a:lnSpc>
                <a:spcPct val="115000"/>
              </a:lnSpc>
              <a:spcBef>
                <a:spcPts val="0"/>
              </a:spcBef>
              <a:spcAft>
                <a:spcPts val="0"/>
              </a:spcAft>
              <a:buSzPts val="1800"/>
              <a:buChar char="●"/>
            </a:pPr>
            <a:r>
              <a:rPr lang="en"/>
              <a:t>Develop web-based maps that are dynamic and interactive using open-source mapping frameworks, e.g. Leaflet and Turf.js. </a:t>
            </a:r>
            <a:endParaRPr/>
          </a:p>
          <a:p>
            <a:pPr indent="-342900" lvl="0" marL="457200" rtl="0" algn="l">
              <a:lnSpc>
                <a:spcPct val="115000"/>
              </a:lnSpc>
              <a:spcBef>
                <a:spcPts val="0"/>
              </a:spcBef>
              <a:spcAft>
                <a:spcPts val="0"/>
              </a:spcAft>
              <a:buSzPts val="1800"/>
              <a:buChar char="●"/>
            </a:pPr>
            <a:r>
              <a:rPr lang="en"/>
              <a:t>Build an interactive narrative mapping project on a topic of their choice.</a:t>
            </a:r>
            <a:endParaRPr/>
          </a:p>
          <a:p>
            <a:pPr indent="0" lvl="0" marL="0" rtl="0" algn="l">
              <a:lnSpc>
                <a:spcPct val="115000"/>
              </a:lnSpc>
              <a:spcBef>
                <a:spcPts val="1200"/>
              </a:spcBef>
              <a:spcAft>
                <a:spcPts val="0"/>
              </a:spcAft>
              <a:buSzPts val="1800"/>
              <a:buNone/>
            </a:pPr>
            <a:r>
              <a:rPr b="1" lang="en"/>
              <a:t>Grad only:</a:t>
            </a:r>
            <a:endParaRPr/>
          </a:p>
          <a:p>
            <a:pPr indent="-342900" lvl="0" marL="457200" rtl="0" algn="l">
              <a:lnSpc>
                <a:spcPct val="115000"/>
              </a:lnSpc>
              <a:spcBef>
                <a:spcPts val="1200"/>
              </a:spcBef>
              <a:spcAft>
                <a:spcPts val="0"/>
              </a:spcAft>
              <a:buSzPts val="1800"/>
              <a:buChar char="●"/>
            </a:pPr>
            <a:r>
              <a:rPr lang="en"/>
              <a:t>Describe and interpret research in interactive cartography and spatial data visualization drawing from research, practice, and theory in the fields of Cartography and cognate disciplines.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102" name="Shape 102"/>
        <p:cNvGrpSpPr/>
        <p:nvPr/>
      </p:nvGrpSpPr>
      <p:grpSpPr>
        <a:xfrm>
          <a:off x="0" y="0"/>
          <a:ext cx="0" cy="0"/>
          <a:chOff x="0" y="0"/>
          <a:chExt cx="0" cy="0"/>
        </a:xfrm>
      </p:grpSpPr>
      <p:sp>
        <p:nvSpPr>
          <p:cNvPr id="103" name="Google Shape;103;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Readings and Technology</a:t>
            </a:r>
            <a:endParaRPr/>
          </a:p>
        </p:txBody>
      </p:sp>
      <p:sp>
        <p:nvSpPr>
          <p:cNvPr id="104" name="Google Shape;104;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lnSpcReduction="10000"/>
          </a:bodyPr>
          <a:lstStyle/>
          <a:p>
            <a:pPr indent="-317182" lvl="0" marL="457200" rtl="0" algn="l">
              <a:lnSpc>
                <a:spcPct val="115000"/>
              </a:lnSpc>
              <a:spcBef>
                <a:spcPts val="0"/>
              </a:spcBef>
              <a:spcAft>
                <a:spcPts val="0"/>
              </a:spcAft>
              <a:buSzPct val="100000"/>
              <a:buChar char="●"/>
            </a:pPr>
            <a:r>
              <a:rPr lang="en"/>
              <a:t>No textbook to purchase</a:t>
            </a:r>
            <a:endParaRPr/>
          </a:p>
          <a:p>
            <a:pPr indent="-297497" lvl="1" marL="914400" rtl="0" algn="l">
              <a:lnSpc>
                <a:spcPct val="115000"/>
              </a:lnSpc>
              <a:spcBef>
                <a:spcPts val="0"/>
              </a:spcBef>
              <a:spcAft>
                <a:spcPts val="0"/>
              </a:spcAft>
              <a:buSzPct val="100000"/>
              <a:buChar char="○"/>
            </a:pPr>
            <a:r>
              <a:rPr i="1" lang="en"/>
              <a:t>Web Mapping: A Workbook for Interactive Cartography and Visualization on the Open Web </a:t>
            </a:r>
            <a:r>
              <a:rPr lang="en"/>
              <a:t>(Roth et al. 2020)</a:t>
            </a:r>
            <a:endParaRPr/>
          </a:p>
          <a:p>
            <a:pPr indent="-297497" lvl="1" marL="914400" rtl="0" algn="l">
              <a:lnSpc>
                <a:spcPct val="115000"/>
              </a:lnSpc>
              <a:spcBef>
                <a:spcPts val="0"/>
              </a:spcBef>
              <a:spcAft>
                <a:spcPts val="0"/>
              </a:spcAft>
              <a:buSzPct val="100000"/>
              <a:buChar char="○"/>
            </a:pPr>
            <a:r>
              <a:rPr lang="en"/>
              <a:t>The GIS&amp;T </a:t>
            </a:r>
            <a:r>
              <a:rPr i="1" lang="en"/>
              <a:t>Body of Knowledge</a:t>
            </a:r>
            <a:endParaRPr/>
          </a:p>
          <a:p>
            <a:pPr indent="-297497" lvl="1" marL="914400" rtl="0" algn="l">
              <a:lnSpc>
                <a:spcPct val="115000"/>
              </a:lnSpc>
              <a:spcBef>
                <a:spcPts val="0"/>
              </a:spcBef>
              <a:spcAft>
                <a:spcPts val="0"/>
              </a:spcAft>
              <a:buSzPct val="100000"/>
              <a:buChar char="○"/>
            </a:pPr>
            <a:r>
              <a:rPr lang="en"/>
              <a:t>Various other articles, tutorials, and book chapters linked on canvas</a:t>
            </a:r>
            <a:br>
              <a:rPr lang="en"/>
            </a:br>
            <a:endParaRPr/>
          </a:p>
          <a:p>
            <a:pPr indent="-317182" lvl="0" marL="457200" rtl="0" algn="l">
              <a:lnSpc>
                <a:spcPct val="115000"/>
              </a:lnSpc>
              <a:spcBef>
                <a:spcPts val="0"/>
              </a:spcBef>
              <a:spcAft>
                <a:spcPts val="0"/>
              </a:spcAft>
              <a:buSzPct val="100000"/>
              <a:buChar char="●"/>
            </a:pPr>
            <a:r>
              <a:rPr lang="en"/>
              <a:t>This course will make heavy use of GitHub both for distributing assignments as well as submitting work. Grading will still occur in Canvas (for privacy, security, etc.)</a:t>
            </a:r>
            <a:endParaRPr/>
          </a:p>
          <a:p>
            <a:pPr indent="-297497" lvl="1" marL="914400" rtl="0" algn="l">
              <a:lnSpc>
                <a:spcPct val="115000"/>
              </a:lnSpc>
              <a:spcBef>
                <a:spcPts val="0"/>
              </a:spcBef>
              <a:spcAft>
                <a:spcPts val="0"/>
              </a:spcAft>
              <a:buSzPct val="100000"/>
              <a:buChar char="○"/>
            </a:pPr>
            <a:r>
              <a:rPr lang="en" u="sng">
                <a:solidFill>
                  <a:schemeClr val="hlink"/>
                </a:solidFill>
                <a:hlinkClick r:id="rId3"/>
              </a:rPr>
              <a:t>https://github.com/OSUCart/InteractiveCart</a:t>
            </a:r>
            <a:endParaRPr/>
          </a:p>
          <a:p>
            <a:pPr indent="-297496" lvl="2" marL="1371600" rtl="0" algn="l">
              <a:lnSpc>
                <a:spcPct val="115000"/>
              </a:lnSpc>
              <a:spcBef>
                <a:spcPts val="0"/>
              </a:spcBef>
              <a:spcAft>
                <a:spcPts val="0"/>
              </a:spcAft>
              <a:buSzPct val="100000"/>
              <a:buChar char="■"/>
            </a:pPr>
            <a:r>
              <a:rPr lang="en"/>
              <a:t>This is a private repository, you will need to email me your github username and I will add you to it.</a:t>
            </a:r>
            <a:endParaRPr/>
          </a:p>
          <a:p>
            <a:pPr indent="-297496" lvl="2" marL="1371600" rtl="0" algn="l">
              <a:lnSpc>
                <a:spcPct val="115000"/>
              </a:lnSpc>
              <a:spcBef>
                <a:spcPts val="0"/>
              </a:spcBef>
              <a:spcAft>
                <a:spcPts val="0"/>
              </a:spcAft>
              <a:buSzPct val="100000"/>
              <a:buChar char="■"/>
            </a:pPr>
            <a:r>
              <a:rPr b="1" lang="en"/>
              <a:t>Do not worry</a:t>
            </a:r>
            <a:r>
              <a:rPr lang="en"/>
              <a:t> if you are unfamiliar with Github (and/or git), the first lab </a:t>
            </a:r>
            <a:r>
              <a:rPr b="1" lang="en"/>
              <a:t>and an activity this week </a:t>
            </a:r>
            <a:r>
              <a:rPr lang="en"/>
              <a:t>will walk you through it.</a:t>
            </a:r>
            <a:br>
              <a:rPr lang="en"/>
            </a:br>
            <a:endParaRPr/>
          </a:p>
          <a:p>
            <a:pPr indent="-317182" lvl="0" marL="457200" rtl="0" algn="l">
              <a:lnSpc>
                <a:spcPct val="115000"/>
              </a:lnSpc>
              <a:spcBef>
                <a:spcPts val="0"/>
              </a:spcBef>
              <a:spcAft>
                <a:spcPts val="0"/>
              </a:spcAft>
              <a:buSzPct val="100000"/>
              <a:buChar char="●"/>
            </a:pPr>
            <a:r>
              <a:rPr lang="en"/>
              <a:t>You will also need access to QGIS (or arcgis), various javascript libraries, a text editor, and a local web host</a:t>
            </a:r>
            <a:endParaRPr/>
          </a:p>
          <a:p>
            <a:pPr indent="-297497" lvl="1" marL="914400" rtl="0" algn="l">
              <a:lnSpc>
                <a:spcPct val="115000"/>
              </a:lnSpc>
              <a:spcBef>
                <a:spcPts val="0"/>
              </a:spcBef>
              <a:spcAft>
                <a:spcPts val="0"/>
              </a:spcAft>
              <a:buSzPct val="100000"/>
              <a:buChar char="○"/>
            </a:pPr>
            <a:r>
              <a:rPr lang="en"/>
              <a:t>The lab machines have the full stack of software you will need.</a:t>
            </a:r>
            <a:endParaRPr/>
          </a:p>
          <a:p>
            <a:pPr indent="-297497" lvl="1" marL="914400" rtl="0" algn="l">
              <a:lnSpc>
                <a:spcPct val="115000"/>
              </a:lnSpc>
              <a:spcBef>
                <a:spcPts val="0"/>
              </a:spcBef>
              <a:spcAft>
                <a:spcPts val="0"/>
              </a:spcAft>
              <a:buSzPct val="100000"/>
              <a:buChar char="○"/>
            </a:pPr>
            <a:r>
              <a:rPr lang="en"/>
              <a:t>All of the software is open source and you can install it on your own machine(s) as you see fit.</a:t>
            </a:r>
            <a:endParaRPr/>
          </a:p>
          <a:p>
            <a:pPr indent="-297497" lvl="1" marL="914400" rtl="0" algn="l">
              <a:lnSpc>
                <a:spcPct val="115000"/>
              </a:lnSpc>
              <a:spcBef>
                <a:spcPts val="0"/>
              </a:spcBef>
              <a:spcAft>
                <a:spcPts val="0"/>
              </a:spcAft>
              <a:buSzPct val="100000"/>
              <a:buChar char="○"/>
            </a:pPr>
            <a:r>
              <a:rPr b="1" lang="en"/>
              <a:t>Do not worry</a:t>
            </a:r>
            <a:r>
              <a:rPr lang="en"/>
              <a:t> if you are unfamiliar with some of these applications/libraries, they will be introduced in class and labs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108" name="Shape 108"/>
        <p:cNvGrpSpPr/>
        <p:nvPr/>
      </p:nvGrpSpPr>
      <p:grpSpPr>
        <a:xfrm>
          <a:off x="0" y="0"/>
          <a:ext cx="0" cy="0"/>
          <a:chOff x="0" y="0"/>
          <a:chExt cx="0" cy="0"/>
        </a:xfrm>
      </p:grpSpPr>
      <p:sp>
        <p:nvSpPr>
          <p:cNvPr id="109" name="Google Shape;109;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Schedule</a:t>
            </a:r>
            <a:endParaRPr/>
          </a:p>
        </p:txBody>
      </p:sp>
      <p:sp>
        <p:nvSpPr>
          <p:cNvPr id="110" name="Google Shape;110;p9"/>
          <p:cNvSpPr txBox="1"/>
          <p:nvPr>
            <p:ph idx="1" type="body"/>
          </p:nvPr>
        </p:nvSpPr>
        <p:spPr>
          <a:xfrm>
            <a:off x="311700" y="1152475"/>
            <a:ext cx="8520600" cy="774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Please read through the entire syllabus for an explanation of all dates; however, here are some key ones:</a:t>
            </a:r>
            <a:endParaRPr sz="1400"/>
          </a:p>
        </p:txBody>
      </p:sp>
      <p:sp>
        <p:nvSpPr>
          <p:cNvPr id="111" name="Google Shape;111;p9"/>
          <p:cNvSpPr txBox="1"/>
          <p:nvPr/>
        </p:nvSpPr>
        <p:spPr>
          <a:xfrm>
            <a:off x="560425" y="1794925"/>
            <a:ext cx="2873700" cy="3421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2"/>
              </a:buClr>
              <a:buSzPts val="1400"/>
              <a:buFont typeface="Proxima Nova"/>
              <a:buChar char="●"/>
            </a:pPr>
            <a:r>
              <a:rPr b="0" i="0" lang="en" sz="1400" u="none" cap="none" strike="noStrike">
                <a:solidFill>
                  <a:schemeClr val="dk2"/>
                </a:solidFill>
                <a:latin typeface="Proxima Nova"/>
                <a:ea typeface="Proxima Nova"/>
                <a:cs typeface="Proxima Nova"/>
                <a:sym typeface="Proxima Nova"/>
              </a:rPr>
              <a:t>1/</a:t>
            </a:r>
            <a:r>
              <a:rPr lang="en">
                <a:solidFill>
                  <a:schemeClr val="dk2"/>
                </a:solidFill>
                <a:latin typeface="Proxima Nova"/>
                <a:ea typeface="Proxima Nova"/>
                <a:cs typeface="Proxima Nova"/>
                <a:sym typeface="Proxima Nova"/>
              </a:rPr>
              <a:t>9</a:t>
            </a:r>
            <a:r>
              <a:rPr b="0" i="0" lang="en" sz="1400" u="none" cap="none" strike="noStrike">
                <a:solidFill>
                  <a:schemeClr val="dk2"/>
                </a:solidFill>
                <a:latin typeface="Proxima Nova"/>
                <a:ea typeface="Proxima Nova"/>
                <a:cs typeface="Proxima Nova"/>
                <a:sym typeface="Proxima Nova"/>
              </a:rPr>
              <a:t> - First grad only meeting</a:t>
            </a:r>
            <a:endParaRPr b="0" i="0" sz="1400" u="none" cap="none" strike="noStrike">
              <a:solidFill>
                <a:schemeClr val="dk2"/>
              </a:solidFill>
              <a:latin typeface="Proxima Nova"/>
              <a:ea typeface="Proxima Nova"/>
              <a:cs typeface="Proxima Nova"/>
              <a:sym typeface="Proxima Nova"/>
            </a:endParaRPr>
          </a:p>
          <a:p>
            <a:pPr indent="-317500" lvl="0" marL="457200" marR="0" rtl="0" algn="l">
              <a:lnSpc>
                <a:spcPct val="115000"/>
              </a:lnSpc>
              <a:spcBef>
                <a:spcPts val="0"/>
              </a:spcBef>
              <a:spcAft>
                <a:spcPts val="0"/>
              </a:spcAft>
              <a:buClr>
                <a:schemeClr val="dk2"/>
              </a:buClr>
              <a:buSzPts val="1400"/>
              <a:buFont typeface="Proxima Nova"/>
              <a:buChar char="●"/>
            </a:pPr>
            <a:r>
              <a:rPr b="0" i="0" lang="en" sz="1400" u="none" cap="none" strike="noStrike">
                <a:solidFill>
                  <a:schemeClr val="dk2"/>
                </a:solidFill>
                <a:latin typeface="Proxima Nova"/>
                <a:ea typeface="Proxima Nova"/>
                <a:cs typeface="Proxima Nova"/>
                <a:sym typeface="Proxima Nova"/>
              </a:rPr>
              <a:t>1/1</a:t>
            </a:r>
            <a:r>
              <a:rPr lang="en">
                <a:solidFill>
                  <a:schemeClr val="dk2"/>
                </a:solidFill>
                <a:latin typeface="Proxima Nova"/>
                <a:ea typeface="Proxima Nova"/>
                <a:cs typeface="Proxima Nova"/>
                <a:sym typeface="Proxima Nova"/>
              </a:rPr>
              <a:t>2</a:t>
            </a:r>
            <a:r>
              <a:rPr b="0" i="0" lang="en" sz="1400" u="none" cap="none" strike="noStrike">
                <a:solidFill>
                  <a:schemeClr val="dk2"/>
                </a:solidFill>
                <a:latin typeface="Proxima Nova"/>
                <a:ea typeface="Proxima Nova"/>
                <a:cs typeface="Proxima Nova"/>
                <a:sym typeface="Proxima Nova"/>
              </a:rPr>
              <a:t> - Lab 1 due</a:t>
            </a:r>
            <a:endParaRPr b="0" i="0" sz="1400" u="none" cap="none" strike="noStrike">
              <a:solidFill>
                <a:schemeClr val="dk2"/>
              </a:solidFill>
              <a:latin typeface="Proxima Nova"/>
              <a:ea typeface="Proxima Nova"/>
              <a:cs typeface="Proxima Nova"/>
              <a:sym typeface="Proxima Nova"/>
            </a:endParaRPr>
          </a:p>
          <a:p>
            <a:pPr indent="-317500" lvl="0" marL="457200" marR="0" rtl="0" algn="l">
              <a:lnSpc>
                <a:spcPct val="115000"/>
              </a:lnSpc>
              <a:spcBef>
                <a:spcPts val="0"/>
              </a:spcBef>
              <a:spcAft>
                <a:spcPts val="0"/>
              </a:spcAft>
              <a:buClr>
                <a:schemeClr val="dk2"/>
              </a:buClr>
              <a:buSzPts val="1400"/>
              <a:buFont typeface="Proxima Nova"/>
              <a:buChar char="●"/>
            </a:pPr>
            <a:r>
              <a:rPr b="0" i="0" lang="en" sz="1400" u="none" cap="none" strike="noStrike">
                <a:solidFill>
                  <a:schemeClr val="dk2"/>
                </a:solidFill>
                <a:latin typeface="Proxima Nova"/>
                <a:ea typeface="Proxima Nova"/>
                <a:cs typeface="Proxima Nova"/>
                <a:sym typeface="Proxima Nova"/>
              </a:rPr>
              <a:t>1/</a:t>
            </a:r>
            <a:r>
              <a:rPr lang="en">
                <a:solidFill>
                  <a:schemeClr val="dk2"/>
                </a:solidFill>
                <a:latin typeface="Proxima Nova"/>
                <a:ea typeface="Proxima Nova"/>
                <a:cs typeface="Proxima Nova"/>
                <a:sym typeface="Proxima Nova"/>
              </a:rPr>
              <a:t>19</a:t>
            </a:r>
            <a:r>
              <a:rPr b="0" i="0" lang="en" sz="1400" u="none" cap="none" strike="noStrike">
                <a:solidFill>
                  <a:schemeClr val="dk2"/>
                </a:solidFill>
                <a:latin typeface="Proxima Nova"/>
                <a:ea typeface="Proxima Nova"/>
                <a:cs typeface="Proxima Nova"/>
                <a:sym typeface="Proxima Nova"/>
              </a:rPr>
              <a:t> - </a:t>
            </a:r>
            <a:r>
              <a:rPr b="1" i="0" lang="en" sz="1400" u="none" cap="none" strike="noStrike">
                <a:solidFill>
                  <a:schemeClr val="dk2"/>
                </a:solidFill>
                <a:latin typeface="Proxima Nova"/>
                <a:ea typeface="Proxima Nova"/>
                <a:cs typeface="Proxima Nova"/>
                <a:sym typeface="Proxima Nova"/>
              </a:rPr>
              <a:t>no lab or lecture</a:t>
            </a:r>
            <a:endParaRPr b="1" i="0" sz="1400" u="none" cap="none" strike="noStrike">
              <a:solidFill>
                <a:schemeClr val="dk2"/>
              </a:solidFill>
              <a:latin typeface="Proxima Nova"/>
              <a:ea typeface="Proxima Nova"/>
              <a:cs typeface="Proxima Nova"/>
              <a:sym typeface="Proxima Nova"/>
            </a:endParaRPr>
          </a:p>
          <a:p>
            <a:pPr indent="-317500" lvl="0" marL="457200" marR="0" rtl="0" algn="l">
              <a:lnSpc>
                <a:spcPct val="115000"/>
              </a:lnSpc>
              <a:spcBef>
                <a:spcPts val="0"/>
              </a:spcBef>
              <a:spcAft>
                <a:spcPts val="0"/>
              </a:spcAft>
              <a:buClr>
                <a:schemeClr val="dk2"/>
              </a:buClr>
              <a:buSzPts val="1400"/>
              <a:buFont typeface="Proxima Nova"/>
              <a:buChar char="●"/>
            </a:pPr>
            <a:r>
              <a:rPr b="0" i="0" lang="en" sz="1400" u="none" cap="none" strike="noStrike">
                <a:solidFill>
                  <a:schemeClr val="dk2"/>
                </a:solidFill>
                <a:latin typeface="Proxima Nova"/>
                <a:ea typeface="Proxima Nova"/>
                <a:cs typeface="Proxima Nova"/>
                <a:sym typeface="Proxima Nova"/>
              </a:rPr>
              <a:t>1/2</a:t>
            </a:r>
            <a:r>
              <a:rPr lang="en">
                <a:solidFill>
                  <a:schemeClr val="dk2"/>
                </a:solidFill>
                <a:latin typeface="Proxima Nova"/>
                <a:ea typeface="Proxima Nova"/>
                <a:cs typeface="Proxima Nova"/>
                <a:sym typeface="Proxima Nova"/>
              </a:rPr>
              <a:t>1</a:t>
            </a:r>
            <a:r>
              <a:rPr b="0" i="0" lang="en" sz="1400" u="none" cap="none" strike="noStrike">
                <a:solidFill>
                  <a:schemeClr val="dk2"/>
                </a:solidFill>
                <a:latin typeface="Proxima Nova"/>
                <a:ea typeface="Proxima Nova"/>
                <a:cs typeface="Proxima Nova"/>
                <a:sym typeface="Proxima Nova"/>
              </a:rPr>
              <a:t> - First grad meeting; Undergrad Quiz 1</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1" i="0" lang="en" sz="1400" u="none" cap="none" strike="noStrike">
                <a:solidFill>
                  <a:schemeClr val="dk2"/>
                </a:solidFill>
                <a:latin typeface="Proxima Nova"/>
                <a:ea typeface="Proxima Nova"/>
                <a:cs typeface="Proxima Nova"/>
                <a:sym typeface="Proxima Nova"/>
              </a:rPr>
              <a:t>1/</a:t>
            </a:r>
            <a:r>
              <a:rPr b="1" lang="en">
                <a:solidFill>
                  <a:schemeClr val="dk2"/>
                </a:solidFill>
                <a:latin typeface="Proxima Nova"/>
                <a:ea typeface="Proxima Nova"/>
                <a:cs typeface="Proxima Nova"/>
                <a:sym typeface="Proxima Nova"/>
              </a:rPr>
              <a:t>30</a:t>
            </a:r>
            <a:r>
              <a:rPr b="1" i="0" lang="en" sz="1400" u="none" cap="none" strike="noStrike">
                <a:solidFill>
                  <a:schemeClr val="dk2"/>
                </a:solidFill>
                <a:latin typeface="Proxima Nova"/>
                <a:ea typeface="Proxima Nova"/>
                <a:cs typeface="Proxima Nova"/>
                <a:sym typeface="Proxima Nova"/>
              </a:rPr>
              <a:t> - Lab 2 due</a:t>
            </a:r>
            <a:r>
              <a:rPr b="1" lang="en">
                <a:solidFill>
                  <a:schemeClr val="dk2"/>
                </a:solidFill>
                <a:latin typeface="Proxima Nova"/>
                <a:ea typeface="Proxima Nova"/>
                <a:cs typeface="Proxima Nova"/>
                <a:sym typeface="Proxima Nova"/>
              </a:rPr>
              <a:t>; </a:t>
            </a:r>
            <a:r>
              <a:rPr b="0" i="0" lang="en" sz="1400" u="none" cap="none" strike="noStrike">
                <a:solidFill>
                  <a:schemeClr val="dk2"/>
                </a:solidFill>
                <a:latin typeface="Proxima Nova"/>
                <a:ea typeface="Proxima Nova"/>
                <a:cs typeface="Proxima Nova"/>
                <a:sym typeface="Proxima Nova"/>
              </a:rPr>
              <a:t>Second grad meeting; Undergrad Quiz 2</a:t>
            </a:r>
            <a:endParaRPr b="0" i="0" sz="1400" u="none" cap="none" strike="noStrike">
              <a:solidFill>
                <a:schemeClr val="dk2"/>
              </a:solidFill>
              <a:latin typeface="Proxima Nova"/>
              <a:ea typeface="Proxima Nova"/>
              <a:cs typeface="Proxima Nova"/>
              <a:sym typeface="Proxima Nova"/>
            </a:endParaRPr>
          </a:p>
          <a:p>
            <a:pPr indent="-317500" lvl="0" marL="457200" marR="0" rtl="0" algn="l">
              <a:lnSpc>
                <a:spcPct val="115000"/>
              </a:lnSpc>
              <a:spcBef>
                <a:spcPts val="0"/>
              </a:spcBef>
              <a:spcAft>
                <a:spcPts val="0"/>
              </a:spcAft>
              <a:buClr>
                <a:schemeClr val="dk2"/>
              </a:buClr>
              <a:buSzPts val="1400"/>
              <a:buFont typeface="Proxima Nova"/>
              <a:buChar char="●"/>
            </a:pPr>
            <a:r>
              <a:rPr b="0" i="0" lang="en" sz="1400" u="none" cap="none" strike="noStrike">
                <a:solidFill>
                  <a:schemeClr val="dk2"/>
                </a:solidFill>
                <a:latin typeface="Proxima Nova"/>
                <a:ea typeface="Proxima Nova"/>
                <a:cs typeface="Proxima Nova"/>
                <a:sym typeface="Proxima Nova"/>
              </a:rPr>
              <a:t>2/</a:t>
            </a:r>
            <a:r>
              <a:rPr lang="en">
                <a:solidFill>
                  <a:schemeClr val="dk2"/>
                </a:solidFill>
                <a:latin typeface="Proxima Nova"/>
                <a:ea typeface="Proxima Nova"/>
                <a:cs typeface="Proxima Nova"/>
                <a:sym typeface="Proxima Nova"/>
              </a:rPr>
              <a:t>9</a:t>
            </a:r>
            <a:r>
              <a:rPr b="0" i="0" lang="en" sz="1400" u="none" cap="none" strike="noStrike">
                <a:solidFill>
                  <a:schemeClr val="dk2"/>
                </a:solidFill>
                <a:latin typeface="Proxima Nova"/>
                <a:ea typeface="Proxima Nova"/>
                <a:cs typeface="Proxima Nova"/>
                <a:sym typeface="Proxima Nova"/>
              </a:rPr>
              <a:t> - Lab 3 due</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2/1</a:t>
            </a:r>
            <a:r>
              <a:rPr lang="en">
                <a:solidFill>
                  <a:schemeClr val="dk2"/>
                </a:solidFill>
                <a:latin typeface="Proxima Nova"/>
                <a:ea typeface="Proxima Nova"/>
                <a:cs typeface="Proxima Nova"/>
                <a:sym typeface="Proxima Nova"/>
              </a:rPr>
              <a:t>6</a:t>
            </a:r>
            <a:r>
              <a:rPr b="0" i="0" lang="en" sz="1400" u="none" cap="none" strike="noStrike">
                <a:solidFill>
                  <a:schemeClr val="dk2"/>
                </a:solidFill>
                <a:latin typeface="Proxima Nova"/>
                <a:ea typeface="Proxima Nova"/>
                <a:cs typeface="Proxima Nova"/>
                <a:sym typeface="Proxima Nova"/>
              </a:rPr>
              <a:t> - </a:t>
            </a:r>
            <a:r>
              <a:rPr b="1" i="0" lang="en" sz="1400" u="none" cap="none" strike="noStrike">
                <a:solidFill>
                  <a:schemeClr val="dk2"/>
                </a:solidFill>
                <a:latin typeface="Proxima Nova"/>
                <a:ea typeface="Proxima Nova"/>
                <a:cs typeface="Proxima Nova"/>
                <a:sym typeface="Proxima Nova"/>
              </a:rPr>
              <a:t>Final Project proposal due</a:t>
            </a:r>
            <a:endParaRPr b="1" i="0" sz="1400" u="none" cap="none" strike="noStrike">
              <a:solidFill>
                <a:schemeClr val="dk2"/>
              </a:solidFill>
              <a:latin typeface="Proxima Nova"/>
              <a:ea typeface="Proxima Nova"/>
              <a:cs typeface="Proxima Nova"/>
              <a:sym typeface="Proxima Nova"/>
            </a:endParaRPr>
          </a:p>
          <a:p>
            <a:pPr indent="0" lvl="0" marL="0" marR="0" rtl="0" algn="l">
              <a:lnSpc>
                <a:spcPct val="115000"/>
              </a:lnSpc>
              <a:spcBef>
                <a:spcPts val="1200"/>
              </a:spcBef>
              <a:spcAft>
                <a:spcPts val="1200"/>
              </a:spcAft>
              <a:buClr>
                <a:srgbClr val="000000"/>
              </a:buClr>
              <a:buSzPts val="1400"/>
              <a:buFont typeface="Arial"/>
              <a:buNone/>
            </a:pPr>
            <a:r>
              <a:t/>
            </a:r>
            <a:endParaRPr b="1" i="0" sz="1400" u="none" cap="none" strike="noStrike">
              <a:solidFill>
                <a:schemeClr val="dk2"/>
              </a:solidFill>
              <a:latin typeface="Proxima Nova"/>
              <a:ea typeface="Proxima Nova"/>
              <a:cs typeface="Proxima Nova"/>
              <a:sym typeface="Proxima Nova"/>
            </a:endParaRPr>
          </a:p>
        </p:txBody>
      </p:sp>
      <p:sp>
        <p:nvSpPr>
          <p:cNvPr id="112" name="Google Shape;112;p9"/>
          <p:cNvSpPr txBox="1"/>
          <p:nvPr/>
        </p:nvSpPr>
        <p:spPr>
          <a:xfrm>
            <a:off x="4128800" y="1870225"/>
            <a:ext cx="4194600" cy="26922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2/2</a:t>
            </a:r>
            <a:r>
              <a:rPr lang="en">
                <a:solidFill>
                  <a:schemeClr val="dk2"/>
                </a:solidFill>
                <a:latin typeface="Proxima Nova"/>
                <a:ea typeface="Proxima Nova"/>
                <a:cs typeface="Proxima Nova"/>
                <a:sym typeface="Proxima Nova"/>
              </a:rPr>
              <a:t>0</a:t>
            </a:r>
            <a:r>
              <a:rPr b="0" i="0" lang="en" sz="1400" u="none" cap="none" strike="noStrike">
                <a:solidFill>
                  <a:schemeClr val="dk2"/>
                </a:solidFill>
                <a:latin typeface="Proxima Nova"/>
                <a:ea typeface="Proxima Nova"/>
                <a:cs typeface="Proxima Nova"/>
                <a:sym typeface="Proxima Nova"/>
              </a:rPr>
              <a:t> - </a:t>
            </a:r>
            <a:r>
              <a:rPr lang="en">
                <a:solidFill>
                  <a:schemeClr val="dk2"/>
                </a:solidFill>
                <a:latin typeface="Proxima Nova"/>
                <a:ea typeface="Proxima Nova"/>
                <a:cs typeface="Proxima Nova"/>
                <a:sym typeface="Proxima Nova"/>
              </a:rPr>
              <a:t>Third grad </a:t>
            </a:r>
            <a:r>
              <a:rPr lang="en">
                <a:solidFill>
                  <a:schemeClr val="dk2"/>
                </a:solidFill>
                <a:latin typeface="Proxima Nova"/>
                <a:ea typeface="Proxima Nova"/>
                <a:cs typeface="Proxima Nova"/>
                <a:sym typeface="Proxima Nova"/>
              </a:rPr>
              <a:t>meeting</a:t>
            </a:r>
            <a:r>
              <a:rPr lang="en">
                <a:solidFill>
                  <a:schemeClr val="dk2"/>
                </a:solidFill>
                <a:latin typeface="Proxima Nova"/>
                <a:ea typeface="Proxima Nova"/>
                <a:cs typeface="Proxima Nova"/>
                <a:sym typeface="Proxima Nova"/>
              </a:rPr>
              <a:t>;</a:t>
            </a:r>
            <a:r>
              <a:rPr b="0" i="0" lang="en" sz="1400" u="none" cap="none" strike="noStrike">
                <a:solidFill>
                  <a:schemeClr val="dk2"/>
                </a:solidFill>
                <a:latin typeface="Proxima Nova"/>
                <a:ea typeface="Proxima Nova"/>
                <a:cs typeface="Proxima Nova"/>
                <a:sym typeface="Proxima Nova"/>
              </a:rPr>
              <a:t> Undergrad Quiz 3</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2/2</a:t>
            </a:r>
            <a:r>
              <a:rPr lang="en">
                <a:solidFill>
                  <a:schemeClr val="dk2"/>
                </a:solidFill>
                <a:latin typeface="Proxima Nova"/>
                <a:ea typeface="Proxima Nova"/>
                <a:cs typeface="Proxima Nova"/>
                <a:sym typeface="Proxima Nova"/>
              </a:rPr>
              <a:t>3</a:t>
            </a:r>
            <a:r>
              <a:rPr b="0" i="0" lang="en" sz="1400" u="none" cap="none" strike="noStrike">
                <a:solidFill>
                  <a:schemeClr val="dk2"/>
                </a:solidFill>
                <a:latin typeface="Proxima Nova"/>
                <a:ea typeface="Proxima Nova"/>
                <a:cs typeface="Proxima Nova"/>
                <a:sym typeface="Proxima Nova"/>
              </a:rPr>
              <a:t> - Lab 4 due</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2/2</a:t>
            </a:r>
            <a:r>
              <a:rPr lang="en">
                <a:solidFill>
                  <a:schemeClr val="dk2"/>
                </a:solidFill>
                <a:latin typeface="Proxima Nova"/>
                <a:ea typeface="Proxima Nova"/>
                <a:cs typeface="Proxima Nova"/>
                <a:sym typeface="Proxima Nova"/>
              </a:rPr>
              <a:t>5</a:t>
            </a:r>
            <a:r>
              <a:rPr b="0" i="0" lang="en" sz="1400" u="none" cap="none" strike="noStrike">
                <a:solidFill>
                  <a:schemeClr val="dk2"/>
                </a:solidFill>
                <a:latin typeface="Proxima Nova"/>
                <a:ea typeface="Proxima Nova"/>
                <a:cs typeface="Proxima Nova"/>
                <a:sym typeface="Proxima Nova"/>
              </a:rPr>
              <a:t> - Extra Credit 1</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2/2</a:t>
            </a:r>
            <a:r>
              <a:rPr lang="en">
                <a:solidFill>
                  <a:schemeClr val="dk2"/>
                </a:solidFill>
                <a:latin typeface="Proxima Nova"/>
                <a:ea typeface="Proxima Nova"/>
                <a:cs typeface="Proxima Nova"/>
                <a:sym typeface="Proxima Nova"/>
              </a:rPr>
              <a:t>7</a:t>
            </a:r>
            <a:r>
              <a:rPr b="0" i="0" lang="en" sz="1400" u="none" cap="none" strike="noStrike">
                <a:solidFill>
                  <a:schemeClr val="dk2"/>
                </a:solidFill>
                <a:latin typeface="Proxima Nova"/>
                <a:ea typeface="Proxima Nova"/>
                <a:cs typeface="Proxima Nova"/>
                <a:sym typeface="Proxima Nova"/>
              </a:rPr>
              <a:t> - Extra Credit 2</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lang="en">
                <a:solidFill>
                  <a:schemeClr val="dk2"/>
                </a:solidFill>
                <a:latin typeface="Proxima Nova"/>
                <a:ea typeface="Proxima Nova"/>
                <a:cs typeface="Proxima Nova"/>
                <a:sym typeface="Proxima Nova"/>
              </a:rPr>
              <a:t>3/4 - Both Extra Credit assignments due</a:t>
            </a:r>
            <a:endParaRPr>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lang="en">
                <a:solidFill>
                  <a:schemeClr val="dk2"/>
                </a:solidFill>
                <a:latin typeface="Proxima Nova"/>
                <a:ea typeface="Proxima Nova"/>
                <a:cs typeface="Proxima Nova"/>
                <a:sym typeface="Proxima Nova"/>
              </a:rPr>
              <a:t>3</a:t>
            </a:r>
            <a:r>
              <a:rPr b="0" i="0" lang="en" sz="1400" u="none" cap="none" strike="noStrike">
                <a:solidFill>
                  <a:schemeClr val="dk2"/>
                </a:solidFill>
                <a:latin typeface="Proxima Nova"/>
                <a:ea typeface="Proxima Nova"/>
                <a:cs typeface="Proxima Nova"/>
                <a:sym typeface="Proxima Nova"/>
              </a:rPr>
              <a:t>/</a:t>
            </a:r>
            <a:r>
              <a:rPr lang="en">
                <a:solidFill>
                  <a:schemeClr val="dk2"/>
                </a:solidFill>
                <a:latin typeface="Proxima Nova"/>
                <a:ea typeface="Proxima Nova"/>
                <a:cs typeface="Proxima Nova"/>
                <a:sym typeface="Proxima Nova"/>
              </a:rPr>
              <a:t>6</a:t>
            </a:r>
            <a:r>
              <a:rPr b="0" i="0" lang="en" sz="1400" u="none" cap="none" strike="noStrike">
                <a:solidFill>
                  <a:schemeClr val="dk2"/>
                </a:solidFill>
                <a:latin typeface="Proxima Nova"/>
                <a:ea typeface="Proxima Nova"/>
                <a:cs typeface="Proxima Nova"/>
                <a:sym typeface="Proxima Nova"/>
              </a:rPr>
              <a:t> - Fourth grad meeting</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3/</a:t>
            </a:r>
            <a:r>
              <a:rPr lang="en">
                <a:solidFill>
                  <a:schemeClr val="dk2"/>
                </a:solidFill>
                <a:latin typeface="Proxima Nova"/>
                <a:ea typeface="Proxima Nova"/>
                <a:cs typeface="Proxima Nova"/>
                <a:sym typeface="Proxima Nova"/>
              </a:rPr>
              <a:t>9</a:t>
            </a:r>
            <a:r>
              <a:rPr b="0" i="0" lang="en" sz="1400" u="none" cap="none" strike="noStrike">
                <a:solidFill>
                  <a:schemeClr val="dk2"/>
                </a:solidFill>
                <a:latin typeface="Proxima Nova"/>
                <a:ea typeface="Proxima Nova"/>
                <a:cs typeface="Proxima Nova"/>
                <a:sym typeface="Proxima Nova"/>
              </a:rPr>
              <a:t> - Lab 5 due</a:t>
            </a:r>
            <a:endParaRPr b="0" i="0" sz="1400" u="none" cap="none" strike="noStrike">
              <a:solidFill>
                <a:schemeClr val="dk2"/>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chemeClr val="dk2"/>
              </a:buClr>
              <a:buSzPts val="1800"/>
              <a:buFont typeface="Proxima Nova"/>
              <a:buChar char="●"/>
            </a:pPr>
            <a:r>
              <a:rPr b="0" i="0" lang="en" sz="1400" u="none" cap="none" strike="noStrike">
                <a:solidFill>
                  <a:schemeClr val="dk2"/>
                </a:solidFill>
                <a:latin typeface="Proxima Nova"/>
                <a:ea typeface="Proxima Nova"/>
                <a:cs typeface="Proxima Nova"/>
                <a:sym typeface="Proxima Nova"/>
              </a:rPr>
              <a:t>3/1</a:t>
            </a:r>
            <a:r>
              <a:rPr lang="en">
                <a:solidFill>
                  <a:schemeClr val="dk2"/>
                </a:solidFill>
                <a:latin typeface="Proxima Nova"/>
                <a:ea typeface="Proxima Nova"/>
                <a:cs typeface="Proxima Nova"/>
                <a:sym typeface="Proxima Nova"/>
              </a:rPr>
              <a:t>8</a:t>
            </a:r>
            <a:r>
              <a:rPr b="0" i="0" lang="en" sz="1400" u="none" cap="none" strike="noStrike">
                <a:solidFill>
                  <a:schemeClr val="dk2"/>
                </a:solidFill>
                <a:latin typeface="Proxima Nova"/>
                <a:ea typeface="Proxima Nova"/>
                <a:cs typeface="Proxima Nova"/>
                <a:sym typeface="Proxima Nova"/>
              </a:rPr>
              <a:t> - Final Projects due!</a:t>
            </a:r>
            <a:endParaRPr b="0" i="0" sz="1400" u="none" cap="none" strike="noStrike">
              <a:solidFill>
                <a:schemeClr val="dk2"/>
              </a:solidFill>
              <a:latin typeface="Proxima Nova"/>
              <a:ea typeface="Proxima Nova"/>
              <a:cs typeface="Proxima Nova"/>
              <a:sym typeface="Proxima Nova"/>
            </a:endParaRPr>
          </a:p>
        </p:txBody>
      </p:sp>
      <p:sp>
        <p:nvSpPr>
          <p:cNvPr id="113" name="Google Shape;113;p9"/>
          <p:cNvSpPr txBox="1"/>
          <p:nvPr/>
        </p:nvSpPr>
        <p:spPr>
          <a:xfrm>
            <a:off x="1698750" y="4711975"/>
            <a:ext cx="7506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Assigned readings are to be completed </a:t>
            </a:r>
            <a:r>
              <a:rPr b="1" i="0" lang="en" sz="1800" u="none" cap="none" strike="noStrike">
                <a:solidFill>
                  <a:schemeClr val="dk2"/>
                </a:solidFill>
                <a:latin typeface="Proxima Nova"/>
                <a:ea typeface="Proxima Nova"/>
                <a:cs typeface="Proxima Nova"/>
                <a:sym typeface="Proxima Nova"/>
              </a:rPr>
              <a:t>before</a:t>
            </a:r>
            <a:r>
              <a:rPr b="0" i="0" lang="en" sz="1800" u="none" cap="none" strike="noStrike">
                <a:solidFill>
                  <a:schemeClr val="dk2"/>
                </a:solidFill>
                <a:latin typeface="Proxima Nova"/>
                <a:ea typeface="Proxima Nova"/>
                <a:cs typeface="Proxima Nova"/>
                <a:sym typeface="Proxima Nova"/>
              </a:rPr>
              <a:t> class (except this week)</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117" name="Shape 117"/>
        <p:cNvGrpSpPr/>
        <p:nvPr/>
      </p:nvGrpSpPr>
      <p:grpSpPr>
        <a:xfrm>
          <a:off x="0" y="0"/>
          <a:ext cx="0" cy="0"/>
          <a:chOff x="0" y="0"/>
          <a:chExt cx="0" cy="0"/>
        </a:xfrm>
      </p:grpSpPr>
      <p:sp>
        <p:nvSpPr>
          <p:cNvPr id="118" name="Google Shape;118;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Assignments and Evaluations</a:t>
            </a:r>
            <a:endParaRPr/>
          </a:p>
        </p:txBody>
      </p:sp>
      <p:sp>
        <p:nvSpPr>
          <p:cNvPr id="119" name="Google Shape;119;p10"/>
          <p:cNvSpPr txBox="1"/>
          <p:nvPr>
            <p:ph idx="1" type="body"/>
          </p:nvPr>
        </p:nvSpPr>
        <p:spPr>
          <a:xfrm>
            <a:off x="311700" y="1152475"/>
            <a:ext cx="8520600" cy="3751200"/>
          </a:xfrm>
          <a:prstGeom prst="rect">
            <a:avLst/>
          </a:prstGeom>
          <a:noFill/>
          <a:ln>
            <a:noFill/>
          </a:ln>
        </p:spPr>
        <p:txBody>
          <a:bodyPr anchorCtr="0" anchor="t" bIns="91425" lIns="91425" spcFirstLastPara="1" rIns="91425" wrap="square" tIns="91425">
            <a:normAutofit lnSpcReduction="10000"/>
          </a:bodyPr>
          <a:lstStyle/>
          <a:p>
            <a:pPr indent="0" lvl="0" marL="457200" rtl="0" algn="l">
              <a:lnSpc>
                <a:spcPct val="115000"/>
              </a:lnSpc>
              <a:spcBef>
                <a:spcPts val="0"/>
              </a:spcBef>
              <a:spcAft>
                <a:spcPts val="0"/>
              </a:spcAft>
              <a:buSzPts val="1800"/>
              <a:buNone/>
            </a:pPr>
            <a:r>
              <a:rPr lang="en"/>
              <a:t>This course is graded out of 100 total points. The breakdown is as follows for undergraduates:</a:t>
            </a:r>
            <a:endParaRPr/>
          </a:p>
          <a:p>
            <a:pPr indent="0" lvl="0" marL="0" rtl="0" algn="l">
              <a:lnSpc>
                <a:spcPct val="115000"/>
              </a:lnSpc>
              <a:spcBef>
                <a:spcPts val="1200"/>
              </a:spcBef>
              <a:spcAft>
                <a:spcPts val="0"/>
              </a:spcAft>
              <a:buSzPts val="1800"/>
              <a:buNone/>
            </a:pPr>
            <a:r>
              <a:rPr lang="en"/>
              <a:t>5 labs x 12 pts each = 		60 pts</a:t>
            </a:r>
            <a:endParaRPr/>
          </a:p>
          <a:p>
            <a:pPr indent="0" lvl="0" marL="0" rtl="0" algn="l">
              <a:lnSpc>
                <a:spcPct val="115000"/>
              </a:lnSpc>
              <a:spcBef>
                <a:spcPts val="1200"/>
              </a:spcBef>
              <a:spcAft>
                <a:spcPts val="0"/>
              </a:spcAft>
              <a:buSzPts val="1800"/>
              <a:buNone/>
            </a:pPr>
            <a:r>
              <a:rPr lang="en"/>
              <a:t>4 quizzes x 5 pts each = 	20 pts</a:t>
            </a:r>
            <a:endParaRPr/>
          </a:p>
          <a:p>
            <a:pPr indent="0" lvl="0" marL="0" rtl="0" algn="l">
              <a:lnSpc>
                <a:spcPct val="115000"/>
              </a:lnSpc>
              <a:spcBef>
                <a:spcPts val="1200"/>
              </a:spcBef>
              <a:spcAft>
                <a:spcPts val="0"/>
              </a:spcAft>
              <a:buSzPts val="1800"/>
              <a:buNone/>
            </a:pPr>
            <a:r>
              <a:rPr lang="en"/>
              <a:t>Final Project =			20 pts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n"/>
              <a:t>Total:					100 pts</a:t>
            </a:r>
            <a:endParaRPr/>
          </a:p>
          <a:p>
            <a:pPr indent="0" lvl="0" marL="0" rtl="0" algn="l">
              <a:lnSpc>
                <a:spcPct val="115000"/>
              </a:lnSpc>
              <a:spcBef>
                <a:spcPts val="1200"/>
              </a:spcBef>
              <a:spcAft>
                <a:spcPts val="0"/>
              </a:spcAft>
              <a:buSzPts val="1800"/>
              <a:buNone/>
            </a:pPr>
            <a:r>
              <a:t/>
            </a:r>
            <a:endParaRPr sz="1400"/>
          </a:p>
          <a:p>
            <a:pPr indent="0" lvl="0" marL="0" rtl="0" algn="l">
              <a:lnSpc>
                <a:spcPct val="115000"/>
              </a:lnSpc>
              <a:spcBef>
                <a:spcPts val="1200"/>
              </a:spcBef>
              <a:spcAft>
                <a:spcPts val="1200"/>
              </a:spcAft>
              <a:buSzPts val="1800"/>
              <a:buNone/>
            </a:pPr>
            <a:r>
              <a:t/>
            </a:r>
            <a:endParaRPr sz="1400"/>
          </a:p>
        </p:txBody>
      </p:sp>
      <p:cxnSp>
        <p:nvCxnSpPr>
          <p:cNvPr id="120" name="Google Shape;120;p10"/>
          <p:cNvCxnSpPr/>
          <p:nvPr/>
        </p:nvCxnSpPr>
        <p:spPr>
          <a:xfrm>
            <a:off x="2756350" y="3514075"/>
            <a:ext cx="1218000" cy="0"/>
          </a:xfrm>
          <a:prstGeom prst="straightConnector1">
            <a:avLst/>
          </a:prstGeom>
          <a:noFill/>
          <a:ln cap="flat" cmpd="sng" w="9525">
            <a:solidFill>
              <a:schemeClr val="dk2"/>
            </a:solidFill>
            <a:prstDash val="solid"/>
            <a:round/>
            <a:headEnd len="sm" w="sm" type="none"/>
            <a:tailEnd len="sm" w="sm" type="none"/>
          </a:ln>
        </p:spPr>
      </p:cxnSp>
      <p:sp>
        <p:nvSpPr>
          <p:cNvPr id="121" name="Google Shape;121;p10"/>
          <p:cNvSpPr txBox="1"/>
          <p:nvPr/>
        </p:nvSpPr>
        <p:spPr>
          <a:xfrm>
            <a:off x="5278250" y="2596225"/>
            <a:ext cx="387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sp>
        <p:nvSpPr>
          <p:cNvPr id="122" name="Google Shape;122;p10"/>
          <p:cNvSpPr txBox="1"/>
          <p:nvPr/>
        </p:nvSpPr>
        <p:spPr>
          <a:xfrm>
            <a:off x="4849350" y="1841375"/>
            <a:ext cx="3051000" cy="26922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Please see the syllabus for a breakdown of point totals to letter grades.</a:t>
            </a:r>
            <a:br>
              <a:rPr b="0" i="0" lang="en" sz="1800" u="none" cap="none" strike="noStrike">
                <a:solidFill>
                  <a:schemeClr val="dk2"/>
                </a:solidFill>
                <a:latin typeface="Proxima Nova"/>
                <a:ea typeface="Proxima Nova"/>
                <a:cs typeface="Proxima Nova"/>
                <a:sym typeface="Proxima Nova"/>
              </a:rPr>
            </a:br>
            <a:br>
              <a:rPr b="0" i="0" lang="en" sz="1800" u="none" cap="none" strike="noStrike">
                <a:solidFill>
                  <a:schemeClr val="dk2"/>
                </a:solidFill>
                <a:latin typeface="Proxima Nova"/>
                <a:ea typeface="Proxima Nova"/>
                <a:cs typeface="Proxima Nova"/>
                <a:sym typeface="Proxima Nova"/>
              </a:rPr>
            </a:br>
            <a:r>
              <a:rPr b="1" i="0" lang="en" sz="1800" u="none" cap="none" strike="noStrike">
                <a:solidFill>
                  <a:schemeClr val="dk2"/>
                </a:solidFill>
                <a:latin typeface="Proxima Nova"/>
                <a:ea typeface="Proxima Nova"/>
                <a:cs typeface="Proxima Nova"/>
                <a:sym typeface="Proxima Nova"/>
              </a:rPr>
              <a:t>Do not</a:t>
            </a:r>
            <a:r>
              <a:rPr b="0" i="0" lang="en" sz="1800" u="none" cap="none" strike="noStrike">
                <a:solidFill>
                  <a:schemeClr val="dk2"/>
                </a:solidFill>
                <a:latin typeface="Proxima Nova"/>
                <a:ea typeface="Proxima Nova"/>
                <a:cs typeface="Proxima Nova"/>
                <a:sym typeface="Proxima Nova"/>
              </a:rPr>
              <a:t> trust the canvas suggested percentages.</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126" name="Shape 126"/>
        <p:cNvGrpSpPr/>
        <p:nvPr/>
      </p:nvGrpSpPr>
      <p:grpSpPr>
        <a:xfrm>
          <a:off x="0" y="0"/>
          <a:ext cx="0" cy="0"/>
          <a:chOff x="0" y="0"/>
          <a:chExt cx="0" cy="0"/>
        </a:xfrm>
      </p:grpSpPr>
      <p:sp>
        <p:nvSpPr>
          <p:cNvPr id="127" name="Google Shape;12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Assignments and Evaluations</a:t>
            </a:r>
            <a:endParaRPr/>
          </a:p>
        </p:txBody>
      </p:sp>
      <p:sp>
        <p:nvSpPr>
          <p:cNvPr id="128" name="Google Shape;128;p11"/>
          <p:cNvSpPr txBox="1"/>
          <p:nvPr>
            <p:ph idx="1" type="body"/>
          </p:nvPr>
        </p:nvSpPr>
        <p:spPr>
          <a:xfrm>
            <a:off x="311700" y="1152475"/>
            <a:ext cx="8520600" cy="3751200"/>
          </a:xfrm>
          <a:prstGeom prst="rect">
            <a:avLst/>
          </a:prstGeom>
          <a:noFill/>
          <a:ln>
            <a:noFill/>
          </a:ln>
        </p:spPr>
        <p:txBody>
          <a:bodyPr anchorCtr="0" anchor="t" bIns="91425" lIns="91425" spcFirstLastPara="1" rIns="91425" wrap="square" tIns="91425">
            <a:normAutofit lnSpcReduction="10000"/>
          </a:bodyPr>
          <a:lstStyle/>
          <a:p>
            <a:pPr indent="0" lvl="0" marL="457200" rtl="0" algn="l">
              <a:lnSpc>
                <a:spcPct val="115000"/>
              </a:lnSpc>
              <a:spcBef>
                <a:spcPts val="0"/>
              </a:spcBef>
              <a:spcAft>
                <a:spcPts val="0"/>
              </a:spcAft>
              <a:buSzPts val="1800"/>
              <a:buNone/>
            </a:pPr>
            <a:r>
              <a:rPr lang="en"/>
              <a:t>This course is graded out of 100 total points. The breakdown is as follows for graduates:</a:t>
            </a:r>
            <a:endParaRPr/>
          </a:p>
          <a:p>
            <a:pPr indent="0" lvl="0" marL="0" rtl="0" algn="l">
              <a:lnSpc>
                <a:spcPct val="115000"/>
              </a:lnSpc>
              <a:spcBef>
                <a:spcPts val="1200"/>
              </a:spcBef>
              <a:spcAft>
                <a:spcPts val="0"/>
              </a:spcAft>
              <a:buSzPts val="1800"/>
              <a:buNone/>
            </a:pPr>
            <a:r>
              <a:rPr lang="en"/>
              <a:t>5 labs x 12 pts each = 		60 pts</a:t>
            </a:r>
            <a:endParaRPr/>
          </a:p>
          <a:p>
            <a:pPr indent="0" lvl="0" marL="0" rtl="0" algn="l">
              <a:lnSpc>
                <a:spcPct val="115000"/>
              </a:lnSpc>
              <a:spcBef>
                <a:spcPts val="1200"/>
              </a:spcBef>
              <a:spcAft>
                <a:spcPts val="0"/>
              </a:spcAft>
              <a:buSzPts val="1800"/>
              <a:buNone/>
            </a:pPr>
            <a:r>
              <a:rPr lang="en"/>
              <a:t>Discussion Lead = 		10 pts</a:t>
            </a:r>
            <a:endParaRPr/>
          </a:p>
          <a:p>
            <a:pPr indent="0" lvl="0" marL="0" rtl="0" algn="l">
              <a:lnSpc>
                <a:spcPct val="115000"/>
              </a:lnSpc>
              <a:spcBef>
                <a:spcPts val="1200"/>
              </a:spcBef>
              <a:spcAft>
                <a:spcPts val="0"/>
              </a:spcAft>
              <a:buSzPts val="1800"/>
              <a:buNone/>
            </a:pPr>
            <a:r>
              <a:rPr lang="en"/>
              <a:t>Final Project =			30 pts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n"/>
              <a:t>Total:					100 pts</a:t>
            </a:r>
            <a:endParaRPr/>
          </a:p>
          <a:p>
            <a:pPr indent="0" lvl="0" marL="0" rtl="0" algn="l">
              <a:lnSpc>
                <a:spcPct val="115000"/>
              </a:lnSpc>
              <a:spcBef>
                <a:spcPts val="1200"/>
              </a:spcBef>
              <a:spcAft>
                <a:spcPts val="0"/>
              </a:spcAft>
              <a:buSzPts val="1800"/>
              <a:buNone/>
            </a:pPr>
            <a:r>
              <a:t/>
            </a:r>
            <a:endParaRPr sz="1400"/>
          </a:p>
          <a:p>
            <a:pPr indent="0" lvl="0" marL="0" rtl="0" algn="l">
              <a:lnSpc>
                <a:spcPct val="115000"/>
              </a:lnSpc>
              <a:spcBef>
                <a:spcPts val="1200"/>
              </a:spcBef>
              <a:spcAft>
                <a:spcPts val="1200"/>
              </a:spcAft>
              <a:buSzPts val="1800"/>
              <a:buNone/>
            </a:pPr>
            <a:r>
              <a:t/>
            </a:r>
            <a:endParaRPr sz="1400"/>
          </a:p>
        </p:txBody>
      </p:sp>
      <p:cxnSp>
        <p:nvCxnSpPr>
          <p:cNvPr id="129" name="Google Shape;129;p11"/>
          <p:cNvCxnSpPr/>
          <p:nvPr/>
        </p:nvCxnSpPr>
        <p:spPr>
          <a:xfrm>
            <a:off x="2756350" y="3514075"/>
            <a:ext cx="1218000" cy="0"/>
          </a:xfrm>
          <a:prstGeom prst="straightConnector1">
            <a:avLst/>
          </a:prstGeom>
          <a:noFill/>
          <a:ln cap="flat" cmpd="sng" w="9525">
            <a:solidFill>
              <a:schemeClr val="dk2"/>
            </a:solidFill>
            <a:prstDash val="solid"/>
            <a:round/>
            <a:headEnd len="sm" w="sm" type="none"/>
            <a:tailEnd len="sm" w="sm" type="none"/>
          </a:ln>
        </p:spPr>
      </p:cxnSp>
      <p:sp>
        <p:nvSpPr>
          <p:cNvPr id="130" name="Google Shape;130;p11"/>
          <p:cNvSpPr txBox="1"/>
          <p:nvPr/>
        </p:nvSpPr>
        <p:spPr>
          <a:xfrm>
            <a:off x="5278250" y="2596225"/>
            <a:ext cx="387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sp>
        <p:nvSpPr>
          <p:cNvPr id="131" name="Google Shape;131;p11"/>
          <p:cNvSpPr txBox="1"/>
          <p:nvPr/>
        </p:nvSpPr>
        <p:spPr>
          <a:xfrm>
            <a:off x="4849350" y="1841375"/>
            <a:ext cx="3051000" cy="26922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Please see the syllabus for a breakdown of point totals to letter grades.</a:t>
            </a:r>
            <a:br>
              <a:rPr b="0" i="0" lang="en" sz="1800" u="none" cap="none" strike="noStrike">
                <a:solidFill>
                  <a:schemeClr val="dk2"/>
                </a:solidFill>
                <a:latin typeface="Proxima Nova"/>
                <a:ea typeface="Proxima Nova"/>
                <a:cs typeface="Proxima Nova"/>
                <a:sym typeface="Proxima Nova"/>
              </a:rPr>
            </a:br>
            <a:br>
              <a:rPr b="0" i="0" lang="en" sz="1800" u="none" cap="none" strike="noStrike">
                <a:solidFill>
                  <a:schemeClr val="dk2"/>
                </a:solidFill>
                <a:latin typeface="Proxima Nova"/>
                <a:ea typeface="Proxima Nova"/>
                <a:cs typeface="Proxima Nova"/>
                <a:sym typeface="Proxima Nova"/>
              </a:rPr>
            </a:br>
            <a:r>
              <a:rPr b="1" i="0" lang="en" sz="1800" u="none" cap="none" strike="noStrike">
                <a:solidFill>
                  <a:schemeClr val="dk2"/>
                </a:solidFill>
                <a:latin typeface="Proxima Nova"/>
                <a:ea typeface="Proxima Nova"/>
                <a:cs typeface="Proxima Nova"/>
                <a:sym typeface="Proxima Nova"/>
              </a:rPr>
              <a:t>Do not</a:t>
            </a:r>
            <a:r>
              <a:rPr b="0" i="0" lang="en" sz="1800" u="none" cap="none" strike="noStrike">
                <a:solidFill>
                  <a:schemeClr val="dk2"/>
                </a:solidFill>
                <a:latin typeface="Proxima Nova"/>
                <a:ea typeface="Proxima Nova"/>
                <a:cs typeface="Proxima Nova"/>
                <a:sym typeface="Proxima Nova"/>
              </a:rPr>
              <a:t> trust the canvas suggested percentages.</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2"/>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n">
                <a:solidFill>
                  <a:srgbClr val="D0E0E3"/>
                </a:solidFill>
              </a:rPr>
              <a:t>Questions?</a:t>
            </a:r>
            <a:endParaRPr>
              <a:solidFill>
                <a:srgbClr val="D0E0E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n">
                <a:solidFill>
                  <a:srgbClr val="D0E0E3"/>
                </a:solidFill>
              </a:rPr>
              <a:t>Why study ‘web mapping’?</a:t>
            </a:r>
            <a:endParaRPr>
              <a:solidFill>
                <a:srgbClr val="D0E0E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n">
                <a:solidFill>
                  <a:srgbClr val="D0E0E3"/>
                </a:solidFill>
              </a:rPr>
              <a:t>‘Homework’: Complete the survey by Friday!</a:t>
            </a:r>
            <a:endParaRPr>
              <a:solidFill>
                <a:srgbClr val="D0E0E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