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 Slab"/>
      <p:regular r:id="rId29"/>
      <p:bold r:id="rId30"/>
    </p:embeddedFont>
    <p:embeddedFont>
      <p:font typeface="Raleway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9" roundtripDataSignature="AMtx7mhcnRqnV+t20H5tSzCCNJxuDy67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lab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regular.fntdata"/><Relationship Id="rId30" Type="http://schemas.openxmlformats.org/officeDocument/2006/relationships/font" Target="fonts/RobotoSlab-bold.fntdata"/><Relationship Id="rId11" Type="http://schemas.openxmlformats.org/officeDocument/2006/relationships/slide" Target="slides/slide6.xml"/><Relationship Id="rId33" Type="http://schemas.openxmlformats.org/officeDocument/2006/relationships/font" Target="fonts/Raleway-italic.fntdata"/><Relationship Id="rId10" Type="http://schemas.openxmlformats.org/officeDocument/2006/relationships/slide" Target="slides/slide5.xml"/><Relationship Id="rId32" Type="http://schemas.openxmlformats.org/officeDocument/2006/relationships/font" Target="fonts/Raleway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Raleway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is where people often get confused. It kind of looks like java in some of its syntax. It shares a name with java. It even has a development history that’s tied to it…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But it’s really far more a lovechild of scheme and some other systems than it is something like java.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ECMA was the European Computer Manufacturers Association, but has been renamed just Ecma International. It develops standards.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gets a little confusing.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You don’t really need to understand all of this.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gets a little confusing.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You don’t really need to understand all of this.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gets a little confusing.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You don’t really need to understand all of this.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From penn state’s online gis courses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If we run out of time, we’ll finish this on Monday when we actually use this structure to load… our first map!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 say should, because </a:t>
            </a:r>
            <a:r>
              <a:rPr i="1" lang="en"/>
              <a:t>sometimes</a:t>
            </a:r>
            <a:r>
              <a:rPr lang="en"/>
              <a:t> this hasn’t worked for me.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If we have extra time, let’s load up leaflet’s tutorials and do the first one.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2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2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2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36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7" name="Google Shape;37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p2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0" name="Google Shape;40;p2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45" name="Google Shape;45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3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3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3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1" name="Google Shape;7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3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3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stackoverflow.com/questions/20180251/when-to-use-window-onload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Review and Ajax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With special guest chatgpt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Today’s Outline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Loads of review!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AJAX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Char char="●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Debugging (time permitting)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StackOverflow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ChatGPT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○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Other approaches…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Javascript… not java…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Goal was for something lightweight and easy to grasp - for scripters, not programmers</a:t>
            </a:r>
            <a:endParaRPr/>
          </a:p>
          <a:p>
            <a:pPr indent="-29324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Java seen as too heavy, too ‘enterprise’ like</a:t>
            </a:r>
            <a:endParaRPr/>
          </a:p>
          <a:p>
            <a:pPr indent="-29324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Idea was originally a scripting companion to java (java for programs, javascript for web pages, etc.)</a:t>
            </a:r>
            <a:br>
              <a:rPr lang="en"/>
            </a:br>
            <a:endParaRPr/>
          </a:p>
          <a:p>
            <a:pPr indent="-3049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First called Mocha, then LiveScript, and eventually Javascript</a:t>
            </a:r>
            <a:endParaRPr/>
          </a:p>
          <a:p>
            <a:pPr indent="-29324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i="1" lang="en"/>
              <a:t>Allegedly</a:t>
            </a:r>
            <a:r>
              <a:rPr lang="en"/>
              <a:t> developed in ten days</a:t>
            </a:r>
            <a:br>
              <a:rPr lang="en"/>
            </a:br>
            <a:endParaRPr/>
          </a:p>
          <a:p>
            <a:pPr indent="-3049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BUT IT’S NOT REALLY AT ALL LIKE JAVA</a:t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6025" y="2006250"/>
            <a:ext cx="4335576" cy="271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ECMAscipt vs. JScript vs…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“Browser Wars”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Basically, each browser had its own specific scripting elements. They were </a:t>
            </a:r>
            <a:r>
              <a:rPr i="1" lang="en"/>
              <a:t>similar</a:t>
            </a:r>
            <a:r>
              <a:rPr lang="en"/>
              <a:t> but not the same.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was a nightmare and really stagnated web development for a few years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Google debuts Chrome with V8 Javascript engine in 2008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Just-In-Time compilation makes it faster…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Finally, in 2009 they all agree to work together with ECMA standards</a:t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3625" y="3557124"/>
            <a:ext cx="3914225" cy="78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7000" y="598475"/>
            <a:ext cx="2847476" cy="284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114" name="Google Shape;114;p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Or why programming is kind of like cooking…</a:t>
            </a:r>
            <a:endParaRPr/>
          </a:p>
        </p:txBody>
      </p:sp>
      <p:sp>
        <p:nvSpPr>
          <p:cNvPr id="115" name="Google Shape;115;p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Scripts are meant to accomplish </a:t>
            </a:r>
            <a:r>
              <a:rPr i="1" lang="en"/>
              <a:t>something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Update a file on click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Load an image if they scroll here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are very smart and an excellent communicator… your computer not so much.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Pseudocode helps us </a:t>
            </a:r>
            <a:r>
              <a:rPr b="1" i="1" lang="en"/>
              <a:t>break apart</a:t>
            </a:r>
            <a:r>
              <a:rPr lang="en"/>
              <a:t> big problems into smaller ones that are easier to </a:t>
            </a:r>
            <a:r>
              <a:rPr b="1" i="1" lang="en"/>
              <a:t>convert into</a:t>
            </a:r>
            <a:r>
              <a:rPr lang="en"/>
              <a:t> something a computer can understand.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Pseudocode helps us think computationally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Start by writing down what you want your script to do.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Then, fill in each step you have to take to accomplish that goal.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sounds simple, and can be, but it’s an important way to </a:t>
            </a:r>
            <a:r>
              <a:rPr i="1" lang="en"/>
              <a:t>think through</a:t>
            </a:r>
            <a:r>
              <a:rPr lang="en"/>
              <a:t> our goals.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/>
              <a:t>Make a cup of tea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Gather ingredients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Boil water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Put teabag in cup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Add boiling water to cup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Wait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Remove teabag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Add milk and sugar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Serve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788" y="1385888"/>
            <a:ext cx="721042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We reference objects through the DOM which allows for interactivity… and all web mapping… to take place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‘Dynamic’ Text</a:t>
            </a: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a bit canned, but let’s see how you can use javascript to manipulate the DOM and ‘create’ a web page.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your /js/ directory, create a file called [whatever].js (I called mine scripts.js)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Now, let’s load and inspect it…</a:t>
            </a:r>
            <a:endParaRPr/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1121" y="499657"/>
            <a:ext cx="4640374" cy="461079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 txBox="1"/>
          <p:nvPr/>
        </p:nvSpPr>
        <p:spPr>
          <a:xfrm>
            <a:off x="1095025" y="4121500"/>
            <a:ext cx="304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Notice I’m doing something very sloppy here, what is it?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‘Dynamic’ Text</a:t>
            </a:r>
            <a:endParaRPr/>
          </a:p>
        </p:txBody>
      </p:sp>
      <p:pic>
        <p:nvPicPr>
          <p:cNvPr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325" y="2168425"/>
            <a:ext cx="748665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9144001" cy="355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types vs. objects?</a:t>
            </a:r>
            <a:endParaRPr/>
          </a:p>
        </p:txBody>
      </p:sp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AutoNum type="arabicPeriod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Variables are containers that hold data values (simple or complex!)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alpha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Primitive data types - </a:t>
            </a: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not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 objects, </a:t>
            </a: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no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 methods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Number - integer, floating point, etc.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String - “Hello World!”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Boolean - True or False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Undefined - declared but not assigned a value yet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Null - the </a:t>
            </a: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intentional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 absence of a value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romanLcPeriod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Symbol - a unique identifier used to avoid naming issues (we can kind of ignore for now)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types vs. objects? (redux)</a:t>
            </a:r>
            <a:endParaRPr/>
          </a:p>
        </p:txBody>
      </p:sp>
      <p:sp>
        <p:nvSpPr>
          <p:cNvPr id="159" name="Google Shape;159;p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Slab"/>
              <a:buAutoNum type="arabicPeriod"/>
            </a:pPr>
            <a:r>
              <a:rPr lang="en" sz="1700">
                <a:latin typeface="Roboto Slab"/>
                <a:ea typeface="Roboto Slab"/>
                <a:cs typeface="Roboto Slab"/>
                <a:sym typeface="Roboto Slab"/>
              </a:rPr>
              <a:t>Reference Data Types can be thought of as ‘references’ to objects in your document:</a:t>
            </a:r>
            <a:endParaRPr sz="17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AutoNum type="alphaLcPeriod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Arrays - [‘hello’, 1, 2.5, True]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AutoNum type="alphaLcPeriod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Object Literals - … literally objects (on the next slide)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AutoNum type="alphaLcPeriod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Functions - Yes, you can make functions as variables because… why not?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types vs. objects? (penultimate)</a:t>
            </a:r>
            <a:endParaRPr/>
          </a:p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>
            <a:off x="729450" y="2078875"/>
            <a:ext cx="7688700" cy="2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-3173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Slab"/>
              <a:buChar char="●"/>
            </a:pPr>
            <a:r>
              <a:rPr lang="en" sz="4300">
                <a:latin typeface="Roboto Slab"/>
                <a:ea typeface="Roboto Slab"/>
                <a:cs typeface="Roboto Slab"/>
                <a:sym typeface="Roboto Slab"/>
              </a:rPr>
              <a:t>Not a specific data type, but a data structure that can hold values, functions, other objects, hetods, and so on. </a:t>
            </a:r>
            <a:endParaRPr sz="4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3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Slab"/>
              <a:buChar char="●"/>
            </a:pPr>
            <a:r>
              <a:rPr lang="en" sz="4300">
                <a:latin typeface="Roboto Slab"/>
                <a:ea typeface="Roboto Slab"/>
                <a:cs typeface="Roboto Slab"/>
                <a:sym typeface="Roboto Slab"/>
              </a:rPr>
              <a:t>A </a:t>
            </a:r>
            <a:r>
              <a:rPr b="1" lang="en" sz="4300">
                <a:latin typeface="Roboto Slab"/>
                <a:ea typeface="Roboto Slab"/>
                <a:cs typeface="Roboto Slab"/>
                <a:sym typeface="Roboto Slab"/>
              </a:rPr>
              <a:t>class</a:t>
            </a:r>
            <a:r>
              <a:rPr lang="en" sz="4300">
                <a:latin typeface="Roboto Slab"/>
                <a:ea typeface="Roboto Slab"/>
                <a:cs typeface="Roboto Slab"/>
                <a:sym typeface="Roboto Slab"/>
              </a:rPr>
              <a:t> is a blueprint for creating objects. You use it to define a custom data type that specifies what properties and methods that object can have.</a:t>
            </a:r>
            <a:br>
              <a:rPr lang="en" sz="4300">
                <a:latin typeface="Roboto Slab"/>
                <a:ea typeface="Roboto Slab"/>
                <a:cs typeface="Roboto Slab"/>
                <a:sym typeface="Roboto Slab"/>
              </a:rPr>
            </a:br>
            <a:endParaRPr sz="4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3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Slab"/>
              <a:buChar char="●"/>
            </a:pPr>
            <a:r>
              <a:rPr lang="en" sz="4300">
                <a:latin typeface="Roboto Slab"/>
                <a:ea typeface="Roboto Slab"/>
                <a:cs typeface="Roboto Slab"/>
                <a:sym typeface="Roboto Slab"/>
              </a:rPr>
              <a:t>You can create an object on the fly, but if you know you’re going to need </a:t>
            </a:r>
            <a:r>
              <a:rPr i="1" lang="en" sz="4300">
                <a:latin typeface="Roboto Slab"/>
                <a:ea typeface="Roboto Slab"/>
                <a:cs typeface="Roboto Slab"/>
                <a:sym typeface="Roboto Slab"/>
              </a:rPr>
              <a:t>a lot</a:t>
            </a:r>
            <a:r>
              <a:rPr lang="en" sz="4300">
                <a:latin typeface="Roboto Slab"/>
                <a:ea typeface="Roboto Slab"/>
                <a:cs typeface="Roboto Slab"/>
                <a:sym typeface="Roboto Slab"/>
              </a:rPr>
              <a:t> of that type of object, you can use a </a:t>
            </a:r>
            <a:r>
              <a:rPr b="1" lang="en" sz="4300">
                <a:latin typeface="Roboto Slab"/>
                <a:ea typeface="Roboto Slab"/>
                <a:cs typeface="Roboto Slab"/>
                <a:sym typeface="Roboto Slab"/>
              </a:rPr>
              <a:t>class</a:t>
            </a:r>
            <a:r>
              <a:rPr lang="en" sz="4300">
                <a:latin typeface="Roboto Slab"/>
                <a:ea typeface="Roboto Slab"/>
                <a:cs typeface="Roboto Slab"/>
                <a:sym typeface="Roboto Slab"/>
              </a:rPr>
              <a:t> to define its properties (like ‘car’)</a:t>
            </a:r>
            <a:br>
              <a:rPr lang="en" sz="4300">
                <a:latin typeface="Roboto Slab"/>
                <a:ea typeface="Roboto Slab"/>
                <a:cs typeface="Roboto Slab"/>
                <a:sym typeface="Roboto Slab"/>
              </a:rPr>
            </a:br>
            <a:br>
              <a:rPr lang="en" sz="4300">
                <a:latin typeface="Roboto Slab"/>
                <a:ea typeface="Roboto Slab"/>
                <a:cs typeface="Roboto Slab"/>
                <a:sym typeface="Roboto Slab"/>
              </a:rPr>
            </a:br>
            <a:endParaRPr sz="4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3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Slab"/>
              <a:buChar char="●"/>
            </a:pPr>
            <a:r>
              <a:rPr lang="en" sz="4300">
                <a:latin typeface="Roboto Slab"/>
                <a:ea typeface="Roboto Slab"/>
                <a:cs typeface="Roboto Slab"/>
                <a:sym typeface="Roboto Slab"/>
              </a:rPr>
              <a:t>We haven’t spent a ton of time with classes, but you’ll see them as we start using libraries.</a:t>
            </a:r>
            <a:br>
              <a:rPr lang="en" sz="4300">
                <a:latin typeface="Roboto Slab"/>
                <a:ea typeface="Roboto Slab"/>
                <a:cs typeface="Roboto Slab"/>
                <a:sym typeface="Roboto Slab"/>
              </a:rPr>
            </a:br>
            <a:endParaRPr sz="43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307692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392" y="0"/>
            <a:ext cx="578922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If… else if… else…</a:t>
            </a:r>
            <a:endParaRPr/>
          </a:p>
        </p:txBody>
      </p:sp>
      <p:pic>
        <p:nvPicPr>
          <p:cNvPr id="176" name="Google Shape;1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853850"/>
            <a:ext cx="3388953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6478" y="1853850"/>
            <a:ext cx="233329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For… (why I like it)</a:t>
            </a:r>
            <a:endParaRPr/>
          </a:p>
        </p:txBody>
      </p:sp>
      <p:pic>
        <p:nvPicPr>
          <p:cNvPr id="183" name="Google Shape;1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8650" y="1853850"/>
            <a:ext cx="3299492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006250"/>
            <a:ext cx="47529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0713" y="2933700"/>
            <a:ext cx="107632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While… </a:t>
            </a:r>
            <a:endParaRPr/>
          </a:p>
        </p:txBody>
      </p:sp>
      <p:pic>
        <p:nvPicPr>
          <p:cNvPr id="191" name="Google Shape;1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06250"/>
            <a:ext cx="32956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4972" y="1318650"/>
            <a:ext cx="2481302" cy="38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AJAX!</a:t>
            </a:r>
            <a:endParaRPr/>
          </a:p>
        </p:txBody>
      </p:sp>
      <p:sp>
        <p:nvSpPr>
          <p:cNvPr id="198" name="Google Shape;198;p18"/>
          <p:cNvSpPr txBox="1"/>
          <p:nvPr>
            <p:ph idx="1" type="body"/>
          </p:nvPr>
        </p:nvSpPr>
        <p:spPr>
          <a:xfrm>
            <a:off x="729450" y="2078875"/>
            <a:ext cx="41559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Slab"/>
              <a:buChar char="●"/>
            </a:pPr>
            <a:r>
              <a:rPr b="1" lang="en" sz="1600">
                <a:latin typeface="Roboto Slab"/>
                <a:ea typeface="Roboto Slab"/>
                <a:cs typeface="Roboto Slab"/>
                <a:sym typeface="Roboto Slab"/>
              </a:rPr>
              <a:t>Asynchronous JavaScript and XML</a:t>
            </a:r>
            <a:endParaRPr b="1"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Char char="○"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Early web pages were static. Any update required a complete reload of the page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Char char="○"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But… remember how the DOM made everything into an object?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AJAX allows for data to be sent for and received from an outside resource </a:t>
            </a:r>
            <a:r>
              <a:rPr b="1" lang="en" sz="1400">
                <a:latin typeface="Roboto Slab"/>
                <a:ea typeface="Roboto Slab"/>
                <a:cs typeface="Roboto Slab"/>
                <a:sym typeface="Roboto Slab"/>
              </a:rPr>
              <a:t>without</a:t>
            </a: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 disrupting the entire page’s state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99" name="Google Shape;1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5346" y="2380239"/>
            <a:ext cx="3774300" cy="246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 this…</a:t>
            </a:r>
            <a:endParaRPr/>
          </a:p>
        </p:txBody>
      </p:sp>
      <p:pic>
        <p:nvPicPr>
          <p:cNvPr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5783" y="2571749"/>
            <a:ext cx="4149841" cy="22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443" y="2029661"/>
            <a:ext cx="3391906" cy="20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AJAX</a:t>
            </a:r>
            <a:endParaRPr/>
          </a:p>
        </p:txBody>
      </p:sp>
      <p:sp>
        <p:nvSpPr>
          <p:cNvPr id="212" name="Google Shape;21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There are </a:t>
            </a:r>
            <a:r>
              <a:rPr b="1" lang="en" sz="1500">
                <a:latin typeface="Roboto Slab"/>
                <a:ea typeface="Roboto Slab"/>
                <a:cs typeface="Roboto Slab"/>
                <a:sym typeface="Roboto Slab"/>
              </a:rPr>
              <a:t>A LOT</a:t>
            </a: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 of libraries to help you manage ajax requests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○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Jquery, axios, superagent, etc. (you can google “javascript ajax libraries” to find more…)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The Fetch API is ‘native’ to javascript and supported by all modern web browsers. It </a:t>
            </a:r>
            <a:r>
              <a:rPr b="1" lang="en" sz="1500">
                <a:latin typeface="Roboto Slab"/>
                <a:ea typeface="Roboto Slab"/>
                <a:cs typeface="Roboto Slab"/>
                <a:sym typeface="Roboto Slab"/>
              </a:rPr>
              <a:t>does not</a:t>
            </a: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 require you to load anything external; so, we’ll focus on it.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Your </a:t>
            </a:r>
            <a:r>
              <a:rPr b="1" lang="en" sz="1500">
                <a:latin typeface="Roboto Slab"/>
                <a:ea typeface="Roboto Slab"/>
                <a:cs typeface="Roboto Slab"/>
                <a:sym typeface="Roboto Slab"/>
              </a:rPr>
              <a:t>workbook</a:t>
            </a:r>
            <a:r>
              <a:rPr lang="en" sz="1500">
                <a:latin typeface="Roboto Slab"/>
                <a:ea typeface="Roboto Slab"/>
                <a:cs typeface="Roboto Slab"/>
                <a:sym typeface="Roboto Slab"/>
              </a:rPr>
              <a:t> walks you through a full AJAX request (Lesson 2 of Chapter 3).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It is assigned, but also </a:t>
            </a:r>
            <a:r>
              <a:rPr b="1" i="1" lang="en" sz="1300">
                <a:latin typeface="Roboto Slab"/>
                <a:ea typeface="Roboto Slab"/>
                <a:cs typeface="Roboto Slab"/>
                <a:sym typeface="Roboto Slab"/>
              </a:rPr>
              <a:t>highly recommended</a:t>
            </a:r>
            <a:endParaRPr b="1" i="1"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○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It does use a technique called window.onload… this is </a:t>
            </a:r>
            <a:r>
              <a:rPr b="1" lang="en" sz="1300">
                <a:latin typeface="Roboto Slab"/>
                <a:ea typeface="Roboto Slab"/>
                <a:cs typeface="Roboto Slab"/>
                <a:sym typeface="Roboto Slab"/>
              </a:rPr>
              <a:t>not</a:t>
            </a: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 necessary with modern scripts, and I recommend this StackOverflow thread for why: </a:t>
            </a:r>
            <a:r>
              <a:rPr lang="en" sz="13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3"/>
              </a:rPr>
              <a:t>https://stackoverflow.com/questions/20180251/when-to-use-window-onload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With the remaining time… let’s build a fetch request</a:t>
            </a:r>
            <a:endParaRPr/>
          </a:p>
        </p:txBody>
      </p:sp>
      <p:sp>
        <p:nvSpPr>
          <p:cNvPr id="218" name="Google Shape;21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arabi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Let’s use our old friend airports.geojson!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arabi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What we’re going to do is use a fetch request to load it, convert it into json, and then print it out to the console.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AutoNum type="arabi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On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Wednesday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we’ll actually expand on this process to add it to a real-live web map!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AutoNum type="alphaLcPeriod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Hurrah! The syntax days are over, it’s web mapping time (almost)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First…</a:t>
            </a:r>
            <a:endParaRPr/>
          </a:p>
        </p:txBody>
      </p:sp>
      <p:sp>
        <p:nvSpPr>
          <p:cNvPr id="224" name="Google Shape;224;p22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457">
                <a:latin typeface="Roboto Slab"/>
                <a:ea typeface="Roboto Slab"/>
                <a:cs typeface="Roboto Slab"/>
                <a:sym typeface="Roboto Slab"/>
              </a:rPr>
              <a:t>Let’s add something to our script in our index.html document</a:t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457">
                <a:latin typeface="Roboto Slab"/>
                <a:ea typeface="Roboto Slab"/>
                <a:cs typeface="Roboto Slab"/>
                <a:sym typeface="Roboto Slab"/>
              </a:rPr>
              <a:t>Do you see the ‘defer’ there?</a:t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457">
                <a:latin typeface="Roboto Slab"/>
                <a:ea typeface="Roboto Slab"/>
                <a:cs typeface="Roboto Slab"/>
                <a:sym typeface="Roboto Slab"/>
              </a:rPr>
              <a:t>This </a:t>
            </a:r>
            <a:r>
              <a:rPr i="1" lang="en" sz="1457">
                <a:latin typeface="Roboto Slab"/>
                <a:ea typeface="Roboto Slab"/>
                <a:cs typeface="Roboto Slab"/>
                <a:sym typeface="Roboto Slab"/>
              </a:rPr>
              <a:t>should</a:t>
            </a:r>
            <a:r>
              <a:rPr lang="en" sz="1457">
                <a:latin typeface="Roboto Slab"/>
                <a:ea typeface="Roboto Slab"/>
                <a:cs typeface="Roboto Slab"/>
                <a:sym typeface="Roboto Slab"/>
              </a:rPr>
              <a:t> begin downloading the script immediately, but it won’t execute until the page is loaded!</a:t>
            </a:r>
            <a:endParaRPr sz="1457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2705025"/>
            <a:ext cx="488632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Second…</a:t>
            </a:r>
            <a:endParaRPr/>
          </a:p>
        </p:txBody>
      </p:sp>
      <p:sp>
        <p:nvSpPr>
          <p:cNvPr id="231" name="Google Shape;231;p23"/>
          <p:cNvSpPr txBox="1"/>
          <p:nvPr>
            <p:ph idx="1" type="body"/>
          </p:nvPr>
        </p:nvSpPr>
        <p:spPr>
          <a:xfrm>
            <a:off x="729450" y="2078875"/>
            <a:ext cx="7688700" cy="30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Let’s head over to our scripts page and add something like this: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Woah! That’s a lot! Let’s talk through it today and then use it to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MAKE A MAP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on Wednesday!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71750"/>
            <a:ext cx="9091650" cy="13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